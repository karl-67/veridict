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13716000" cx="24384000"/>
  <p:notesSz cx="6858000" cy="9144000"/>
  <p:embeddedFontLst>
    <p:embeddedFont>
      <p:font typeface="Proxima Nova"/>
      <p:regular r:id="rId18"/>
      <p:bold r:id="rId19"/>
      <p:italic r:id="rId20"/>
      <p:boldItalic r:id="rId21"/>
    </p:embeddedFont>
    <p:embeddedFont>
      <p:font typeface="Heebo"/>
      <p:regular r:id="rId22"/>
      <p:bold r:id="rId23"/>
    </p:embeddedFont>
    <p:embeddedFont>
      <p:font typeface="Helvetica Neue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7E549C7-3CD7-4FE5-A0AF-3A7A5209F2C3}">
  <a:tblStyle styleId="{C7E549C7-3CD7-4FE5-A0AF-3A7A5209F2C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roximaNova-italic.fntdata"/><Relationship Id="rId22" Type="http://schemas.openxmlformats.org/officeDocument/2006/relationships/font" Target="fonts/Heebo-regular.fntdata"/><Relationship Id="rId21" Type="http://schemas.openxmlformats.org/officeDocument/2006/relationships/font" Target="fonts/ProximaNova-boldItalic.fntdata"/><Relationship Id="rId24" Type="http://schemas.openxmlformats.org/officeDocument/2006/relationships/font" Target="fonts/HelveticaNeue-regular.fntdata"/><Relationship Id="rId23" Type="http://schemas.openxmlformats.org/officeDocument/2006/relationships/font" Target="fonts/Heebo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HelveticaNeue-italic.fntdata"/><Relationship Id="rId25" Type="http://schemas.openxmlformats.org/officeDocument/2006/relationships/font" Target="fonts/HelveticaNeue-bold.fntdata"/><Relationship Id="rId27" Type="http://schemas.openxmlformats.org/officeDocument/2006/relationships/font" Target="fonts/HelveticaNeue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roximaNova-bold.fntdata"/><Relationship Id="rId18" Type="http://schemas.openxmlformats.org/officeDocument/2006/relationships/font" Target="fonts/ProximaNova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bdc901f5b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dbdc901f5b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bb3c4a0ec_2_8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dbb3c4a0ec_2_8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Slide">
  <p:cSld name="3_Title Slide">
    <p:bg>
      <p:bgPr>
        <a:solidFill>
          <a:srgbClr val="840032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765521" y="11721380"/>
            <a:ext cx="1274618" cy="12746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ext&#10;&#10;Description automatically generated with medium confidence" id="8" name="Google Shape;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5521" y="2674800"/>
            <a:ext cx="9025760" cy="21088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/>
          <p:nvPr/>
        </p:nvSpPr>
        <p:spPr>
          <a:xfrm>
            <a:off x="207431" y="2276745"/>
            <a:ext cx="23969138" cy="11205691"/>
          </a:xfrm>
          <a:prstGeom prst="rect">
            <a:avLst/>
          </a:prstGeom>
          <a:solidFill>
            <a:srgbClr val="000000">
              <a:alpha val="2745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3"/>
          <p:cNvSpPr txBox="1"/>
          <p:nvPr/>
        </p:nvSpPr>
        <p:spPr>
          <a:xfrm>
            <a:off x="18662617" y="1229325"/>
            <a:ext cx="4063613" cy="287258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SzPts val="1200"/>
              <a:buFont typeface="Helvetica Neue"/>
              <a:buNone/>
            </a:pPr>
            <a:r>
              <a:rPr b="1" i="0" lang="en-US" sz="1200" u="none" cap="none" strike="noStrike">
                <a:solidFill>
                  <a:srgbClr val="92929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ⓒ</a:t>
            </a:r>
            <a:r>
              <a:rPr b="0" i="0" lang="en-US" sz="1200" u="none" cap="none" strike="noStrike">
                <a:solidFill>
                  <a:srgbClr val="92929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All rights reserved. American University of Beirut 2022.</a:t>
            </a:r>
            <a:endParaRPr b="0" i="0" sz="1200" u="none" cap="none" strike="noStrike">
              <a:solidFill>
                <a:srgbClr val="92929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2" name="Google Shape;12;p3"/>
          <p:cNvCxnSpPr/>
          <p:nvPr/>
        </p:nvCxnSpPr>
        <p:spPr>
          <a:xfrm>
            <a:off x="15959857" y="1134058"/>
            <a:ext cx="6753311" cy="0"/>
          </a:xfrm>
          <a:prstGeom prst="straightConnector1">
            <a:avLst/>
          </a:prstGeom>
          <a:noFill/>
          <a:ln cap="flat" cmpd="sng" w="25400">
            <a:solidFill>
              <a:srgbClr val="666666"/>
            </a:solidFill>
            <a:prstDash val="solid"/>
            <a:miter lim="400000"/>
            <a:headEnd len="sm" w="sm" type="none"/>
            <a:tailEnd len="sm" w="sm" type="none"/>
          </a:ln>
        </p:spPr>
      </p:cxnSp>
      <p:pic>
        <p:nvPicPr>
          <p:cNvPr id="13" name="Google Shape;13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927353" y="668732"/>
            <a:ext cx="904687" cy="9046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 with medium confidence" id="14" name="Google Shape;1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1960" y="523015"/>
            <a:ext cx="5254098" cy="12275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/>
          <p:nvPr/>
        </p:nvSpPr>
        <p:spPr>
          <a:xfrm>
            <a:off x="207431" y="2276745"/>
            <a:ext cx="23969138" cy="11205691"/>
          </a:xfrm>
          <a:prstGeom prst="rect">
            <a:avLst/>
          </a:prstGeom>
          <a:solidFill>
            <a:srgbClr val="000000">
              <a:alpha val="2745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4"/>
          <p:cNvSpPr txBox="1"/>
          <p:nvPr/>
        </p:nvSpPr>
        <p:spPr>
          <a:xfrm>
            <a:off x="18662617" y="1229325"/>
            <a:ext cx="4063613" cy="287258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SzPts val="1200"/>
              <a:buFont typeface="Helvetica Neue"/>
              <a:buNone/>
            </a:pPr>
            <a:r>
              <a:rPr b="1" i="0" lang="en-US" sz="1200" u="none" cap="none" strike="noStrike">
                <a:solidFill>
                  <a:srgbClr val="92929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ⓒ</a:t>
            </a:r>
            <a:r>
              <a:rPr b="0" i="0" lang="en-US" sz="1200" u="none" cap="none" strike="noStrike">
                <a:solidFill>
                  <a:srgbClr val="92929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All rights reserved. American University of Beirut 2022.</a:t>
            </a:r>
            <a:endParaRPr b="0" i="0" sz="1200" u="none" cap="none" strike="noStrike">
              <a:solidFill>
                <a:srgbClr val="92929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8" name="Google Shape;18;p4"/>
          <p:cNvCxnSpPr/>
          <p:nvPr/>
        </p:nvCxnSpPr>
        <p:spPr>
          <a:xfrm>
            <a:off x="15959857" y="1134058"/>
            <a:ext cx="6753311" cy="0"/>
          </a:xfrm>
          <a:prstGeom prst="straightConnector1">
            <a:avLst/>
          </a:prstGeom>
          <a:noFill/>
          <a:ln cap="flat" cmpd="sng" w="25400">
            <a:solidFill>
              <a:srgbClr val="666666"/>
            </a:solidFill>
            <a:prstDash val="solid"/>
            <a:miter lim="400000"/>
            <a:headEnd len="sm" w="sm" type="none"/>
            <a:tailEnd len="sm" w="sm" type="none"/>
          </a:ln>
        </p:spPr>
      </p:cxnSp>
      <p:pic>
        <p:nvPicPr>
          <p:cNvPr id="19" name="Google Shape;1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927353" y="668732"/>
            <a:ext cx="904687" cy="904687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/>
          <p:nvPr>
            <p:ph idx="2" type="pic"/>
          </p:nvPr>
        </p:nvSpPr>
        <p:spPr>
          <a:xfrm>
            <a:off x="207431" y="2276115"/>
            <a:ext cx="10563410" cy="11206052"/>
          </a:xfrm>
          <a:prstGeom prst="rect">
            <a:avLst/>
          </a:prstGeom>
          <a:noFill/>
          <a:ln>
            <a:noFill/>
          </a:ln>
        </p:spPr>
      </p:sp>
      <p:pic>
        <p:nvPicPr>
          <p:cNvPr descr="Logo&#10;&#10;Description automatically generated with medium confidence" id="21" name="Google Shape;2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1960" y="523015"/>
            <a:ext cx="5254098" cy="12275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and Content">
  <p:cSld name="3_Title and Conten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207431" y="2276745"/>
            <a:ext cx="23969138" cy="11205691"/>
          </a:xfrm>
          <a:prstGeom prst="rect">
            <a:avLst/>
          </a:prstGeom>
          <a:solidFill>
            <a:srgbClr val="000000">
              <a:alpha val="2745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5"/>
          <p:cNvSpPr txBox="1"/>
          <p:nvPr/>
        </p:nvSpPr>
        <p:spPr>
          <a:xfrm>
            <a:off x="18662617" y="1229325"/>
            <a:ext cx="4063613" cy="287258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SzPts val="1200"/>
              <a:buFont typeface="Helvetica Neue"/>
              <a:buNone/>
            </a:pPr>
            <a:r>
              <a:rPr b="1" i="0" lang="en-US" sz="1200" u="none" cap="none" strike="noStrike">
                <a:solidFill>
                  <a:srgbClr val="92929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ⓒ</a:t>
            </a:r>
            <a:r>
              <a:rPr b="0" i="0" lang="en-US" sz="1200" u="none" cap="none" strike="noStrike">
                <a:solidFill>
                  <a:srgbClr val="92929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All rights reserved. American University of Beirut 2022.</a:t>
            </a:r>
            <a:endParaRPr b="0" i="0" sz="1200" u="none" cap="none" strike="noStrike">
              <a:solidFill>
                <a:srgbClr val="92929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5" name="Google Shape;25;p5"/>
          <p:cNvCxnSpPr/>
          <p:nvPr/>
        </p:nvCxnSpPr>
        <p:spPr>
          <a:xfrm>
            <a:off x="15959857" y="1134058"/>
            <a:ext cx="6753311" cy="0"/>
          </a:xfrm>
          <a:prstGeom prst="straightConnector1">
            <a:avLst/>
          </a:prstGeom>
          <a:noFill/>
          <a:ln cap="flat" cmpd="sng" w="25400">
            <a:solidFill>
              <a:srgbClr val="666666"/>
            </a:solidFill>
            <a:prstDash val="solid"/>
            <a:miter lim="400000"/>
            <a:headEnd len="sm" w="sm" type="none"/>
            <a:tailEnd len="sm" w="sm" type="none"/>
          </a:ln>
        </p:spPr>
      </p:cxnSp>
      <p:pic>
        <p:nvPicPr>
          <p:cNvPr id="26" name="Google Shape;26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927353" y="668732"/>
            <a:ext cx="904687" cy="904687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5"/>
          <p:cNvSpPr/>
          <p:nvPr>
            <p:ph idx="2" type="pic"/>
          </p:nvPr>
        </p:nvSpPr>
        <p:spPr>
          <a:xfrm>
            <a:off x="207431" y="4892955"/>
            <a:ext cx="7805784" cy="8589212"/>
          </a:xfrm>
          <a:prstGeom prst="rect">
            <a:avLst/>
          </a:prstGeom>
          <a:noFill/>
          <a:ln>
            <a:noFill/>
          </a:ln>
        </p:spPr>
      </p:sp>
      <p:sp>
        <p:nvSpPr>
          <p:cNvPr id="28" name="Google Shape;28;p5"/>
          <p:cNvSpPr/>
          <p:nvPr>
            <p:ph idx="3" type="pic"/>
          </p:nvPr>
        </p:nvSpPr>
        <p:spPr>
          <a:xfrm>
            <a:off x="16354050" y="4892955"/>
            <a:ext cx="7805784" cy="8589212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5"/>
          <p:cNvSpPr/>
          <p:nvPr>
            <p:ph idx="4" type="pic"/>
          </p:nvPr>
        </p:nvSpPr>
        <p:spPr>
          <a:xfrm>
            <a:off x="8280740" y="4892955"/>
            <a:ext cx="7805784" cy="8589212"/>
          </a:xfrm>
          <a:prstGeom prst="rect">
            <a:avLst/>
          </a:prstGeom>
          <a:noFill/>
          <a:ln>
            <a:noFill/>
          </a:ln>
        </p:spPr>
      </p:sp>
      <p:pic>
        <p:nvPicPr>
          <p:cNvPr descr="Logo&#10;&#10;Description automatically generated with medium confidence" id="30" name="Google Shape;3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1960" y="523015"/>
            <a:ext cx="5254098" cy="12275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and Content">
  <p:cSld name="2_Title and Conten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>
            <a:off x="207431" y="2276745"/>
            <a:ext cx="23969138" cy="11205691"/>
          </a:xfrm>
          <a:prstGeom prst="rect">
            <a:avLst/>
          </a:prstGeom>
          <a:solidFill>
            <a:srgbClr val="000000">
              <a:alpha val="2745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6"/>
          <p:cNvSpPr txBox="1"/>
          <p:nvPr/>
        </p:nvSpPr>
        <p:spPr>
          <a:xfrm>
            <a:off x="18662617" y="1229325"/>
            <a:ext cx="4063613" cy="287258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SzPts val="1200"/>
              <a:buFont typeface="Helvetica Neue"/>
              <a:buNone/>
            </a:pPr>
            <a:r>
              <a:rPr b="1" i="0" lang="en-US" sz="1200" u="none" cap="none" strike="noStrike">
                <a:solidFill>
                  <a:srgbClr val="92929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ⓒ</a:t>
            </a:r>
            <a:r>
              <a:rPr b="0" i="0" lang="en-US" sz="1200" u="none" cap="none" strike="noStrike">
                <a:solidFill>
                  <a:srgbClr val="92929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All rights reserved. American University of Beirut 2022.</a:t>
            </a:r>
            <a:endParaRPr b="0" i="0" sz="1200" u="none" cap="none" strike="noStrike">
              <a:solidFill>
                <a:srgbClr val="92929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4" name="Google Shape;34;p6"/>
          <p:cNvCxnSpPr/>
          <p:nvPr/>
        </p:nvCxnSpPr>
        <p:spPr>
          <a:xfrm>
            <a:off x="15959857" y="1134058"/>
            <a:ext cx="6753311" cy="0"/>
          </a:xfrm>
          <a:prstGeom prst="straightConnector1">
            <a:avLst/>
          </a:prstGeom>
          <a:noFill/>
          <a:ln cap="flat" cmpd="sng" w="25400">
            <a:solidFill>
              <a:srgbClr val="666666"/>
            </a:solidFill>
            <a:prstDash val="solid"/>
            <a:miter lim="400000"/>
            <a:headEnd len="sm" w="sm" type="none"/>
            <a:tailEnd len="sm" w="sm" type="none"/>
          </a:ln>
        </p:spPr>
      </p:cxnSp>
      <p:pic>
        <p:nvPicPr>
          <p:cNvPr id="35" name="Google Shape;3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927353" y="668732"/>
            <a:ext cx="904687" cy="904687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6"/>
          <p:cNvSpPr/>
          <p:nvPr>
            <p:ph idx="2" type="pic"/>
          </p:nvPr>
        </p:nvSpPr>
        <p:spPr>
          <a:xfrm>
            <a:off x="207431" y="2276115"/>
            <a:ext cx="9375102" cy="11206052"/>
          </a:xfrm>
          <a:prstGeom prst="rect">
            <a:avLst/>
          </a:prstGeom>
          <a:noFill/>
          <a:ln>
            <a:noFill/>
          </a:ln>
        </p:spPr>
      </p:sp>
      <p:pic>
        <p:nvPicPr>
          <p:cNvPr descr="Logo&#10;&#10;Description automatically generated with medium confidence" id="37" name="Google Shape;3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1960" y="523015"/>
            <a:ext cx="5254098" cy="12275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bg>
      <p:bgPr>
        <a:solidFill>
          <a:srgbClr val="840032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54691" y="11721380"/>
            <a:ext cx="1274618" cy="12746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ext&#10;&#10;Description automatically generated with medium confidence" id="40" name="Google Shape;4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89778" y="9729997"/>
            <a:ext cx="6404444" cy="14963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Slide">
  <p:cSld name="2_Title Slide">
    <p:bg>
      <p:bgPr>
        <a:solidFill>
          <a:srgbClr val="840032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54691" y="11721380"/>
            <a:ext cx="1274618" cy="12746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ext&#10;&#10;Description automatically generated with medium confidence" id="43" name="Google Shape;4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97336" y="5597563"/>
            <a:ext cx="10789328" cy="25208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6.png"/><Relationship Id="rId8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5.png"/><Relationship Id="rId5" Type="http://schemas.openxmlformats.org/officeDocument/2006/relationships/image" Target="../media/image10.png"/><Relationship Id="rId6" Type="http://schemas.openxmlformats.org/officeDocument/2006/relationships/image" Target="../media/image6.png"/><Relationship Id="rId7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/>
          <p:nvPr/>
        </p:nvSpPr>
        <p:spPr>
          <a:xfrm>
            <a:off x="7980150" y="6141750"/>
            <a:ext cx="8423700" cy="14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roxima Nova"/>
              <a:buNone/>
            </a:pPr>
            <a:r>
              <a:rPr b="1" lang="en-US" sz="96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VERIDICT</a:t>
            </a:r>
            <a:endParaRPr b="0" i="0" sz="96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" name="Google Shape;49;p9"/>
          <p:cNvSpPr txBox="1"/>
          <p:nvPr/>
        </p:nvSpPr>
        <p:spPr>
          <a:xfrm>
            <a:off x="1233871" y="8236724"/>
            <a:ext cx="183219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Helvetica Neue"/>
              <a:buNone/>
            </a:pPr>
            <a:r>
              <a:rPr lang="en-US" sz="35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Abdel Rahman EL Kouche,</a:t>
            </a:r>
            <a:r>
              <a:rPr b="0" i="0" lang="en-US" sz="35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Kar</a:t>
            </a:r>
            <a:r>
              <a:rPr lang="en-US" sz="35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</a:t>
            </a:r>
            <a:r>
              <a:rPr b="0" i="0" lang="en-US" sz="35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5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Assi</a:t>
            </a:r>
            <a:r>
              <a:rPr b="0" i="0" lang="en-US" sz="35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35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Karl Gerges</a:t>
            </a:r>
            <a:endParaRPr b="0" i="0" sz="35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" name="Google Shape;50;p9"/>
          <p:cNvSpPr txBox="1"/>
          <p:nvPr/>
        </p:nvSpPr>
        <p:spPr>
          <a:xfrm>
            <a:off x="1765521" y="9136844"/>
            <a:ext cx="102657" cy="518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51" name="Google Shape;51;p9"/>
          <p:cNvCxnSpPr/>
          <p:nvPr/>
        </p:nvCxnSpPr>
        <p:spPr>
          <a:xfrm flipH="1" rot="10800000">
            <a:off x="1783482" y="8963284"/>
            <a:ext cx="9653400" cy="44100"/>
          </a:xfrm>
          <a:prstGeom prst="straightConnector1">
            <a:avLst/>
          </a:prstGeom>
          <a:noFill/>
          <a:ln cap="rnd" cmpd="sng" w="25400">
            <a:solidFill>
              <a:srgbClr val="FFFFFF">
                <a:alpha val="66666"/>
              </a:srgbClr>
            </a:solidFill>
            <a:prstDash val="dashDot"/>
            <a:round/>
            <a:headEnd len="sm" w="sm" type="none"/>
            <a:tailEnd len="sm" w="sm" type="none"/>
          </a:ln>
        </p:spPr>
      </p:cxnSp>
      <p:sp>
        <p:nvSpPr>
          <p:cNvPr id="52" name="Google Shape;52;p9"/>
          <p:cNvSpPr txBox="1"/>
          <p:nvPr/>
        </p:nvSpPr>
        <p:spPr>
          <a:xfrm>
            <a:off x="1233871" y="9169156"/>
            <a:ext cx="7989642" cy="6309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Helvetica Neue"/>
              <a:buNone/>
            </a:pPr>
            <a:r>
              <a:rPr lang="en-US" sz="35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EECE 503N: AI Engineering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/>
        </p:nvSpPr>
        <p:spPr>
          <a:xfrm>
            <a:off x="1699363" y="6922146"/>
            <a:ext cx="6155531" cy="1099788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40032"/>
              </a:buClr>
              <a:buSzPts val="7200"/>
              <a:buFont typeface="Helvetica Neue"/>
              <a:buNone/>
            </a:pPr>
            <a:r>
              <a:rPr b="1" i="0" lang="en-US" sz="7200" u="none" cap="none" strike="noStrike">
                <a:solidFill>
                  <a:srgbClr val="84003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MAIN TOPICS</a:t>
            </a:r>
            <a:endParaRPr/>
          </a:p>
        </p:txBody>
      </p:sp>
      <p:sp>
        <p:nvSpPr>
          <p:cNvPr id="58" name="Google Shape;58;p10"/>
          <p:cNvSpPr/>
          <p:nvPr/>
        </p:nvSpPr>
        <p:spPr>
          <a:xfrm>
            <a:off x="9611447" y="4390575"/>
            <a:ext cx="4642032" cy="1105944"/>
          </a:xfrm>
          <a:custGeom>
            <a:rect b="b" l="l" r="r" t="t"/>
            <a:pathLst>
              <a:path extrusionOk="0" h="120000" w="216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 </a:t>
            </a:r>
            <a:endParaRPr/>
          </a:p>
        </p:txBody>
      </p:sp>
      <p:sp>
        <p:nvSpPr>
          <p:cNvPr id="59" name="Google Shape;59;p10"/>
          <p:cNvSpPr txBox="1"/>
          <p:nvPr/>
        </p:nvSpPr>
        <p:spPr>
          <a:xfrm>
            <a:off x="9596712" y="9810918"/>
            <a:ext cx="5202394" cy="597654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</a:pPr>
            <a:r>
              <a:rPr lang="en-US" sz="4000">
                <a:latin typeface="Helvetica Neue"/>
                <a:ea typeface="Helvetica Neue"/>
                <a:cs typeface="Helvetica Neue"/>
                <a:sym typeface="Helvetica Neue"/>
              </a:rPr>
              <a:t>Engineering Tradeoffs</a:t>
            </a:r>
            <a:endParaRPr b="0" i="0" sz="4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" name="Google Shape;60;p10"/>
          <p:cNvSpPr/>
          <p:nvPr/>
        </p:nvSpPr>
        <p:spPr>
          <a:xfrm>
            <a:off x="9598865" y="6590426"/>
            <a:ext cx="4399181" cy="613501"/>
          </a:xfrm>
          <a:custGeom>
            <a:rect b="b" l="l" r="r" t="t"/>
            <a:pathLst>
              <a:path extrusionOk="0" h="120000" w="216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</a:pPr>
            <a:r>
              <a:rPr lang="en-US" sz="4000">
                <a:latin typeface="Helvetica Neue"/>
                <a:ea typeface="Helvetica Neue"/>
                <a:cs typeface="Helvetica Neue"/>
                <a:sym typeface="Helvetica Neue"/>
              </a:rPr>
              <a:t>Solution</a:t>
            </a:r>
            <a:endParaRPr b="0" i="0" sz="4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" name="Google Shape;61;p10"/>
          <p:cNvSpPr/>
          <p:nvPr/>
        </p:nvSpPr>
        <p:spPr>
          <a:xfrm>
            <a:off x="9563486" y="11405237"/>
            <a:ext cx="5923194" cy="613501"/>
          </a:xfrm>
          <a:custGeom>
            <a:rect b="b" l="l" r="r" t="t"/>
            <a:pathLst>
              <a:path extrusionOk="0" h="120000" w="216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</a:pPr>
            <a:r>
              <a:rPr lang="en-US" sz="4000">
                <a:latin typeface="Helvetica Neue"/>
                <a:ea typeface="Helvetica Neue"/>
                <a:cs typeface="Helvetica Neue"/>
                <a:sym typeface="Helvetica Neue"/>
              </a:rPr>
              <a:t>Data &amp; </a:t>
            </a:r>
            <a:r>
              <a:rPr lang="en-US" sz="4000">
                <a:latin typeface="Helvetica Neue"/>
                <a:ea typeface="Helvetica Neue"/>
                <a:cs typeface="Helvetica Neue"/>
                <a:sym typeface="Helvetica Neue"/>
              </a:rPr>
              <a:t>Training</a:t>
            </a:r>
            <a:endParaRPr/>
          </a:p>
        </p:txBody>
      </p:sp>
      <p:sp>
        <p:nvSpPr>
          <p:cNvPr id="62" name="Google Shape;62;p10"/>
          <p:cNvSpPr/>
          <p:nvPr/>
        </p:nvSpPr>
        <p:spPr>
          <a:xfrm>
            <a:off x="16237101" y="4373526"/>
            <a:ext cx="5444172" cy="1099800"/>
          </a:xfrm>
          <a:custGeom>
            <a:rect b="b" l="l" r="r" t="t"/>
            <a:pathLst>
              <a:path extrusionOk="0" h="120000" w="216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</a:pPr>
            <a:r>
              <a:rPr lang="en-US" sz="4000">
                <a:latin typeface="Helvetica Neue"/>
                <a:ea typeface="Helvetica Neue"/>
                <a:cs typeface="Helvetica Neue"/>
                <a:sym typeface="Helvetica Neue"/>
              </a:rPr>
              <a:t>Deployment Strategy</a:t>
            </a:r>
            <a:endParaRPr b="0" i="0" sz="4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63" name="Google Shape;63;p10"/>
          <p:cNvCxnSpPr/>
          <p:nvPr/>
        </p:nvCxnSpPr>
        <p:spPr>
          <a:xfrm>
            <a:off x="9641297" y="5606427"/>
            <a:ext cx="430126" cy="1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</p:cxnSp>
      <p:cxnSp>
        <p:nvCxnSpPr>
          <p:cNvPr id="64" name="Google Shape;64;p10"/>
          <p:cNvCxnSpPr/>
          <p:nvPr/>
        </p:nvCxnSpPr>
        <p:spPr>
          <a:xfrm>
            <a:off x="9653377" y="10547517"/>
            <a:ext cx="430126" cy="1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</p:cxnSp>
      <p:cxnSp>
        <p:nvCxnSpPr>
          <p:cNvPr id="65" name="Google Shape;65;p10"/>
          <p:cNvCxnSpPr/>
          <p:nvPr/>
        </p:nvCxnSpPr>
        <p:spPr>
          <a:xfrm>
            <a:off x="9653377" y="7315956"/>
            <a:ext cx="430126" cy="1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</p:cxnSp>
      <p:cxnSp>
        <p:nvCxnSpPr>
          <p:cNvPr id="66" name="Google Shape;66;p10"/>
          <p:cNvCxnSpPr/>
          <p:nvPr/>
        </p:nvCxnSpPr>
        <p:spPr>
          <a:xfrm>
            <a:off x="16266959" y="5606427"/>
            <a:ext cx="430126" cy="1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</p:cxnSp>
      <p:sp>
        <p:nvSpPr>
          <p:cNvPr id="67" name="Google Shape;67;p10"/>
          <p:cNvSpPr txBox="1"/>
          <p:nvPr/>
        </p:nvSpPr>
        <p:spPr>
          <a:xfrm>
            <a:off x="9611447" y="5877900"/>
            <a:ext cx="914262" cy="7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40032"/>
              </a:buClr>
              <a:buSzPts val="4200"/>
              <a:buFont typeface="Helvetica Neue"/>
              <a:buNone/>
            </a:pPr>
            <a:r>
              <a:rPr b="1" i="0" lang="en-US" sz="4200" u="none" cap="none" strike="noStrike">
                <a:solidFill>
                  <a:srgbClr val="84003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02</a:t>
            </a:r>
            <a:r>
              <a:rPr b="0" i="0" lang="en-US" sz="4200" u="none" cap="none" strike="noStrike">
                <a:solidFill>
                  <a:srgbClr val="840032"/>
                </a:solidFill>
                <a:latin typeface="Proxima Nova"/>
                <a:ea typeface="Proxima Nova"/>
                <a:cs typeface="Proxima Nova"/>
                <a:sym typeface="Proxima Nova"/>
              </a:rPr>
              <a:t>.</a:t>
            </a:r>
            <a:endParaRPr/>
          </a:p>
        </p:txBody>
      </p:sp>
      <p:sp>
        <p:nvSpPr>
          <p:cNvPr id="68" name="Google Shape;68;p10"/>
          <p:cNvSpPr txBox="1"/>
          <p:nvPr/>
        </p:nvSpPr>
        <p:spPr>
          <a:xfrm>
            <a:off x="9611447" y="3680520"/>
            <a:ext cx="914262" cy="7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40032"/>
              </a:buClr>
              <a:buSzPts val="4200"/>
              <a:buFont typeface="Helvetica Neue"/>
              <a:buNone/>
            </a:pPr>
            <a:r>
              <a:rPr b="1" i="0" lang="en-US" sz="4200" u="none" cap="none" strike="noStrike">
                <a:solidFill>
                  <a:srgbClr val="84003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01</a:t>
            </a:r>
            <a:r>
              <a:rPr b="0" i="0" lang="en-US" sz="4200" u="none" cap="none" strike="noStrike">
                <a:solidFill>
                  <a:srgbClr val="840032"/>
                </a:solidFill>
                <a:latin typeface="Proxima Nova"/>
                <a:ea typeface="Proxima Nova"/>
                <a:cs typeface="Proxima Nova"/>
                <a:sym typeface="Proxima Nova"/>
              </a:rPr>
              <a:t>.</a:t>
            </a:r>
            <a:endParaRPr/>
          </a:p>
        </p:txBody>
      </p:sp>
      <p:sp>
        <p:nvSpPr>
          <p:cNvPr id="69" name="Google Shape;69;p10"/>
          <p:cNvSpPr txBox="1"/>
          <p:nvPr/>
        </p:nvSpPr>
        <p:spPr>
          <a:xfrm>
            <a:off x="9598865" y="7473533"/>
            <a:ext cx="914262" cy="7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40032"/>
              </a:buClr>
              <a:buSzPts val="4200"/>
              <a:buFont typeface="Helvetica Neue"/>
              <a:buNone/>
            </a:pPr>
            <a:r>
              <a:rPr b="1" i="0" lang="en-US" sz="4200" u="none" cap="none" strike="noStrike">
                <a:solidFill>
                  <a:srgbClr val="84003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03</a:t>
            </a:r>
            <a:r>
              <a:rPr b="0" i="0" lang="en-US" sz="4200" u="none" cap="none" strike="noStrike">
                <a:solidFill>
                  <a:srgbClr val="840032"/>
                </a:solidFill>
                <a:latin typeface="Proxima Nova"/>
                <a:ea typeface="Proxima Nova"/>
                <a:cs typeface="Proxima Nova"/>
                <a:sym typeface="Proxima Nova"/>
              </a:rPr>
              <a:t>.</a:t>
            </a:r>
            <a:endParaRPr/>
          </a:p>
        </p:txBody>
      </p:sp>
      <p:sp>
        <p:nvSpPr>
          <p:cNvPr id="70" name="Google Shape;70;p10"/>
          <p:cNvSpPr txBox="1"/>
          <p:nvPr/>
        </p:nvSpPr>
        <p:spPr>
          <a:xfrm>
            <a:off x="9596711" y="10699172"/>
            <a:ext cx="914262" cy="7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40032"/>
              </a:buClr>
              <a:buSzPts val="4200"/>
              <a:buFont typeface="Helvetica Neue"/>
              <a:buNone/>
            </a:pPr>
            <a:r>
              <a:rPr b="1" i="0" lang="en-US" sz="4200" u="none" cap="none" strike="noStrike">
                <a:solidFill>
                  <a:srgbClr val="84003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05.</a:t>
            </a:r>
            <a:endParaRPr b="0" i="0" sz="4200" u="none" cap="none" strike="noStrike">
              <a:solidFill>
                <a:srgbClr val="84003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1" name="Google Shape;71;p10"/>
          <p:cNvSpPr txBox="1"/>
          <p:nvPr/>
        </p:nvSpPr>
        <p:spPr>
          <a:xfrm>
            <a:off x="9596712" y="9103539"/>
            <a:ext cx="914262" cy="7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40032"/>
              </a:buClr>
              <a:buSzPts val="4200"/>
              <a:buFont typeface="Helvetica Neue"/>
              <a:buNone/>
            </a:pPr>
            <a:r>
              <a:rPr b="1" i="0" lang="en-US" sz="4200" u="none" cap="none" strike="noStrike">
                <a:solidFill>
                  <a:srgbClr val="84003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04</a:t>
            </a:r>
            <a:r>
              <a:rPr b="0" i="0" lang="en-US" sz="4200" u="none" cap="none" strike="noStrike">
                <a:solidFill>
                  <a:srgbClr val="840032"/>
                </a:solidFill>
                <a:latin typeface="Proxima Nova"/>
                <a:ea typeface="Proxima Nova"/>
                <a:cs typeface="Proxima Nova"/>
                <a:sym typeface="Proxima Nova"/>
              </a:rPr>
              <a:t>.</a:t>
            </a:r>
            <a:endParaRPr/>
          </a:p>
        </p:txBody>
      </p:sp>
      <p:sp>
        <p:nvSpPr>
          <p:cNvPr id="72" name="Google Shape;72;p10"/>
          <p:cNvSpPr txBox="1"/>
          <p:nvPr/>
        </p:nvSpPr>
        <p:spPr>
          <a:xfrm>
            <a:off x="16235832" y="3682656"/>
            <a:ext cx="914262" cy="7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40032"/>
              </a:buClr>
              <a:buSzPts val="4200"/>
              <a:buFont typeface="Helvetica Neue"/>
              <a:buNone/>
            </a:pPr>
            <a:r>
              <a:rPr b="1" i="0" lang="en-US" sz="4200" u="none" cap="none" strike="noStrike">
                <a:solidFill>
                  <a:srgbClr val="84003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06</a:t>
            </a:r>
            <a:r>
              <a:rPr b="0" i="0" lang="en-US" sz="4200" u="none" cap="none" strike="noStrike">
                <a:solidFill>
                  <a:srgbClr val="840032"/>
                </a:solidFill>
                <a:latin typeface="Proxima Nova"/>
                <a:ea typeface="Proxima Nova"/>
                <a:cs typeface="Proxima Nova"/>
                <a:sym typeface="Proxima Nova"/>
              </a:rPr>
              <a:t>.</a:t>
            </a:r>
            <a:endParaRPr/>
          </a:p>
        </p:txBody>
      </p:sp>
      <p:sp>
        <p:nvSpPr>
          <p:cNvPr id="73" name="Google Shape;73;p10"/>
          <p:cNvSpPr/>
          <p:nvPr/>
        </p:nvSpPr>
        <p:spPr>
          <a:xfrm>
            <a:off x="9608071" y="8186059"/>
            <a:ext cx="4794270" cy="613501"/>
          </a:xfrm>
          <a:custGeom>
            <a:rect b="b" l="l" r="r" t="t"/>
            <a:pathLst>
              <a:path extrusionOk="0" h="120000" w="216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</a:pPr>
            <a:r>
              <a:rPr lang="en-US" sz="4000">
                <a:latin typeface="Helvetica Neue"/>
                <a:ea typeface="Helvetica Neue"/>
                <a:cs typeface="Helvetica Neue"/>
                <a:sym typeface="Helvetica Neue"/>
              </a:rPr>
              <a:t>Architecture</a:t>
            </a:r>
            <a:endParaRPr/>
          </a:p>
        </p:txBody>
      </p:sp>
      <p:sp>
        <p:nvSpPr>
          <p:cNvPr id="74" name="Google Shape;74;p10"/>
          <p:cNvSpPr txBox="1"/>
          <p:nvPr/>
        </p:nvSpPr>
        <p:spPr>
          <a:xfrm>
            <a:off x="15540112" y="761668"/>
            <a:ext cx="76311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roxima Nova"/>
              <a:buNone/>
            </a:pPr>
            <a:r>
              <a:rPr b="1" lang="en-US" sz="2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Veridict</a:t>
            </a:r>
            <a:endParaRPr b="0" i="0" sz="2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5" name="Google Shape;75;p10"/>
          <p:cNvSpPr/>
          <p:nvPr/>
        </p:nvSpPr>
        <p:spPr>
          <a:xfrm>
            <a:off x="16213090" y="6585580"/>
            <a:ext cx="4399181" cy="613501"/>
          </a:xfrm>
          <a:custGeom>
            <a:rect b="b" l="l" r="r" t="t"/>
            <a:pathLst>
              <a:path extrusionOk="0" h="120000" w="216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</a:pPr>
            <a:r>
              <a:rPr lang="en-US" sz="4000">
                <a:latin typeface="Helvetica Neue"/>
                <a:ea typeface="Helvetica Neue"/>
                <a:cs typeface="Helvetica Neue"/>
                <a:sym typeface="Helvetica Neue"/>
              </a:rPr>
              <a:t>LLMOps Strategy</a:t>
            </a:r>
            <a:endParaRPr b="0" i="0" sz="4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6" name="Google Shape;76;p10"/>
          <p:cNvSpPr/>
          <p:nvPr/>
        </p:nvSpPr>
        <p:spPr>
          <a:xfrm>
            <a:off x="16213090" y="9843650"/>
            <a:ext cx="5923206" cy="613500"/>
          </a:xfrm>
          <a:custGeom>
            <a:rect b="b" l="l" r="r" t="t"/>
            <a:pathLst>
              <a:path extrusionOk="0" h="120000" w="216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</a:pPr>
            <a:r>
              <a:rPr lang="en-US" sz="4000">
                <a:latin typeface="Helvetica Neue"/>
                <a:ea typeface="Helvetica Neue"/>
                <a:cs typeface="Helvetica Neue"/>
                <a:sym typeface="Helvetica Neue"/>
              </a:rPr>
              <a:t>Demo</a:t>
            </a:r>
            <a:endParaRPr/>
          </a:p>
        </p:txBody>
      </p:sp>
      <p:sp>
        <p:nvSpPr>
          <p:cNvPr id="77" name="Google Shape;77;p10"/>
          <p:cNvSpPr/>
          <p:nvPr/>
        </p:nvSpPr>
        <p:spPr>
          <a:xfrm>
            <a:off x="16246316" y="11405236"/>
            <a:ext cx="6924899" cy="613501"/>
          </a:xfrm>
          <a:custGeom>
            <a:rect b="b" l="l" r="r" t="t"/>
            <a:pathLst>
              <a:path extrusionOk="0" h="120000" w="216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</a:pPr>
            <a:r>
              <a:t/>
            </a:r>
            <a:endParaRPr b="0" i="0" sz="4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78" name="Google Shape;78;p10"/>
          <p:cNvCxnSpPr/>
          <p:nvPr/>
        </p:nvCxnSpPr>
        <p:spPr>
          <a:xfrm>
            <a:off x="16250417" y="8951934"/>
            <a:ext cx="4302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</p:cxnSp>
      <p:cxnSp>
        <p:nvCxnSpPr>
          <p:cNvPr id="79" name="Google Shape;79;p10"/>
          <p:cNvCxnSpPr/>
          <p:nvPr/>
        </p:nvCxnSpPr>
        <p:spPr>
          <a:xfrm>
            <a:off x="16269138" y="7312970"/>
            <a:ext cx="430126" cy="1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</p:cxnSp>
      <p:sp>
        <p:nvSpPr>
          <p:cNvPr id="80" name="Google Shape;80;p10"/>
          <p:cNvSpPr txBox="1"/>
          <p:nvPr/>
        </p:nvSpPr>
        <p:spPr>
          <a:xfrm>
            <a:off x="16235832" y="5877900"/>
            <a:ext cx="914262" cy="7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40032"/>
              </a:buClr>
              <a:buSzPts val="4200"/>
              <a:buFont typeface="Helvetica Neue"/>
              <a:buNone/>
            </a:pPr>
            <a:r>
              <a:rPr b="1" i="0" lang="en-US" sz="4200" u="none" cap="none" strike="noStrike">
                <a:solidFill>
                  <a:srgbClr val="84003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07</a:t>
            </a:r>
            <a:r>
              <a:rPr b="0" i="0" lang="en-US" sz="4200" u="none" cap="none" strike="noStrike">
                <a:solidFill>
                  <a:srgbClr val="840032"/>
                </a:solidFill>
                <a:latin typeface="Proxima Nova"/>
                <a:ea typeface="Proxima Nova"/>
                <a:cs typeface="Proxima Nova"/>
                <a:sym typeface="Proxima Nova"/>
              </a:rPr>
              <a:t>.</a:t>
            </a:r>
            <a:endParaRPr/>
          </a:p>
        </p:txBody>
      </p:sp>
      <p:sp>
        <p:nvSpPr>
          <p:cNvPr id="81" name="Google Shape;81;p10"/>
          <p:cNvSpPr txBox="1"/>
          <p:nvPr/>
        </p:nvSpPr>
        <p:spPr>
          <a:xfrm>
            <a:off x="16235832" y="7472040"/>
            <a:ext cx="914262" cy="7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40032"/>
              </a:buClr>
              <a:buSzPts val="4200"/>
              <a:buFont typeface="Helvetica Neue"/>
              <a:buNone/>
            </a:pPr>
            <a:r>
              <a:rPr b="1" i="0" lang="en-US" sz="4200" u="none" cap="none" strike="noStrike">
                <a:solidFill>
                  <a:srgbClr val="84003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08</a:t>
            </a:r>
            <a:r>
              <a:rPr b="0" i="0" lang="en-US" sz="4200" u="none" cap="none" strike="noStrike">
                <a:solidFill>
                  <a:srgbClr val="840032"/>
                </a:solidFill>
                <a:latin typeface="Proxima Nova"/>
                <a:ea typeface="Proxima Nova"/>
                <a:cs typeface="Proxima Nova"/>
                <a:sym typeface="Proxima Nova"/>
              </a:rPr>
              <a:t>.</a:t>
            </a:r>
            <a:endParaRPr/>
          </a:p>
        </p:txBody>
      </p:sp>
      <p:sp>
        <p:nvSpPr>
          <p:cNvPr id="82" name="Google Shape;82;p10"/>
          <p:cNvSpPr txBox="1"/>
          <p:nvPr/>
        </p:nvSpPr>
        <p:spPr>
          <a:xfrm>
            <a:off x="16235832" y="9109278"/>
            <a:ext cx="914400" cy="7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40032"/>
              </a:buClr>
              <a:buSzPts val="4200"/>
              <a:buFont typeface="Helvetica Neue"/>
              <a:buNone/>
            </a:pPr>
            <a:r>
              <a:rPr b="1" i="0" lang="en-US" sz="4200" u="none" cap="none" strike="noStrike">
                <a:solidFill>
                  <a:srgbClr val="84003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09</a:t>
            </a:r>
            <a:endParaRPr b="0" i="0" sz="4200" u="none" cap="none" strike="noStrike">
              <a:solidFill>
                <a:srgbClr val="84003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3" name="Google Shape;83;p10"/>
          <p:cNvSpPr/>
          <p:nvPr/>
        </p:nvSpPr>
        <p:spPr>
          <a:xfrm>
            <a:off x="16235824" y="8191250"/>
            <a:ext cx="5202414" cy="613500"/>
          </a:xfrm>
          <a:custGeom>
            <a:rect b="b" l="l" r="r" t="t"/>
            <a:pathLst>
              <a:path extrusionOk="0" h="120000" w="216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</a:pPr>
            <a:r>
              <a:rPr lang="en-US" sz="4000">
                <a:latin typeface="Helvetica Neue"/>
                <a:ea typeface="Helvetica Neue"/>
                <a:cs typeface="Helvetica Neue"/>
                <a:sym typeface="Helvetica Neue"/>
              </a:rPr>
              <a:t>Results &amp; </a:t>
            </a:r>
            <a:r>
              <a:rPr lang="en-US" sz="4000">
                <a:latin typeface="Helvetica Neue"/>
                <a:ea typeface="Helvetica Neue"/>
                <a:cs typeface="Helvetica Neue"/>
                <a:sym typeface="Helvetica Neue"/>
              </a:rPr>
              <a:t>Limitations</a:t>
            </a:r>
            <a:endParaRPr/>
          </a:p>
        </p:txBody>
      </p:sp>
      <p:cxnSp>
        <p:nvCxnSpPr>
          <p:cNvPr id="84" name="Google Shape;84;p10"/>
          <p:cNvCxnSpPr/>
          <p:nvPr/>
        </p:nvCxnSpPr>
        <p:spPr>
          <a:xfrm>
            <a:off x="9647086" y="8951934"/>
            <a:ext cx="430126" cy="1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1"/>
          <p:cNvSpPr txBox="1"/>
          <p:nvPr/>
        </p:nvSpPr>
        <p:spPr>
          <a:xfrm>
            <a:off x="15783339" y="755374"/>
            <a:ext cx="72108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roxima Nova"/>
              <a:buNone/>
            </a:pPr>
            <a:r>
              <a:rPr b="1" lang="en-US" sz="2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Veridict</a:t>
            </a:r>
            <a:endParaRPr b="0" i="0" sz="2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0" name="Google Shape;90;p11"/>
          <p:cNvSpPr txBox="1"/>
          <p:nvPr/>
        </p:nvSpPr>
        <p:spPr>
          <a:xfrm>
            <a:off x="8781150" y="2585350"/>
            <a:ext cx="6821700" cy="8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91633"/>
              </a:buClr>
              <a:buSzPts val="5400"/>
              <a:buFont typeface="Helvetica Neue"/>
              <a:buNone/>
            </a:pPr>
            <a:r>
              <a:rPr b="1" lang="en-US" sz="5400">
                <a:solidFill>
                  <a:srgbClr val="7916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</a:t>
            </a:r>
            <a:endParaRPr/>
          </a:p>
        </p:txBody>
      </p:sp>
      <p:sp>
        <p:nvSpPr>
          <p:cNvPr id="91" name="Google Shape;91;p11"/>
          <p:cNvSpPr/>
          <p:nvPr/>
        </p:nvSpPr>
        <p:spPr>
          <a:xfrm>
            <a:off x="12133925" y="4391525"/>
            <a:ext cx="3090000" cy="3212700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rgbClr val="910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1"/>
          <p:cNvSpPr/>
          <p:nvPr/>
        </p:nvSpPr>
        <p:spPr>
          <a:xfrm>
            <a:off x="16638550" y="6301150"/>
            <a:ext cx="2864700" cy="2865000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rgbClr val="910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1"/>
          <p:cNvSpPr/>
          <p:nvPr/>
        </p:nvSpPr>
        <p:spPr>
          <a:xfrm>
            <a:off x="19776925" y="3088450"/>
            <a:ext cx="3217200" cy="3212700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rgbClr val="910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1"/>
          <p:cNvSpPr/>
          <p:nvPr/>
        </p:nvSpPr>
        <p:spPr>
          <a:xfrm>
            <a:off x="16574500" y="10482850"/>
            <a:ext cx="3090000" cy="2865000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rgbClr val="910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  <p:cxnSp>
        <p:nvCxnSpPr>
          <p:cNvPr id="95" name="Google Shape;95;p11"/>
          <p:cNvCxnSpPr>
            <a:stCxn id="91" idx="5"/>
            <a:endCxn id="92" idx="2"/>
          </p:cNvCxnSpPr>
          <p:nvPr/>
        </p:nvCxnSpPr>
        <p:spPr>
          <a:xfrm>
            <a:off x="14771405" y="7133736"/>
            <a:ext cx="1867200" cy="600000"/>
          </a:xfrm>
          <a:prstGeom prst="straightConnector1">
            <a:avLst/>
          </a:prstGeom>
          <a:noFill/>
          <a:ln cap="flat" cmpd="sng" w="38100">
            <a:solidFill>
              <a:srgbClr val="91003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" name="Google Shape;96;p11"/>
          <p:cNvCxnSpPr>
            <a:stCxn id="93" idx="3"/>
            <a:endCxn id="92" idx="7"/>
          </p:cNvCxnSpPr>
          <p:nvPr/>
        </p:nvCxnSpPr>
        <p:spPr>
          <a:xfrm flipH="1">
            <a:off x="19083773" y="5830661"/>
            <a:ext cx="1164300" cy="890100"/>
          </a:xfrm>
          <a:prstGeom prst="straightConnector1">
            <a:avLst/>
          </a:prstGeom>
          <a:noFill/>
          <a:ln cap="flat" cmpd="sng" w="38100">
            <a:solidFill>
              <a:srgbClr val="91003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" name="Google Shape;97;p11"/>
          <p:cNvCxnSpPr>
            <a:stCxn id="92" idx="4"/>
            <a:endCxn id="94" idx="0"/>
          </p:cNvCxnSpPr>
          <p:nvPr/>
        </p:nvCxnSpPr>
        <p:spPr>
          <a:xfrm>
            <a:off x="18070900" y="9166150"/>
            <a:ext cx="48600" cy="1316700"/>
          </a:xfrm>
          <a:prstGeom prst="straightConnector1">
            <a:avLst/>
          </a:prstGeom>
          <a:noFill/>
          <a:ln cap="flat" cmpd="sng" w="38100">
            <a:solidFill>
              <a:srgbClr val="91003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" name="Google Shape;98;p11"/>
          <p:cNvSpPr txBox="1"/>
          <p:nvPr/>
        </p:nvSpPr>
        <p:spPr>
          <a:xfrm>
            <a:off x="12571025" y="5014775"/>
            <a:ext cx="2652900" cy="19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/>
              <a:t>Expensive</a:t>
            </a:r>
            <a:endParaRPr b="1"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high legal cost per contract cycle</a:t>
            </a:r>
            <a:endParaRPr sz="2400"/>
          </a:p>
        </p:txBody>
      </p:sp>
      <p:sp>
        <p:nvSpPr>
          <p:cNvPr id="99" name="Google Shape;99;p11"/>
          <p:cNvSpPr txBox="1"/>
          <p:nvPr/>
        </p:nvSpPr>
        <p:spPr>
          <a:xfrm>
            <a:off x="16971700" y="6915850"/>
            <a:ext cx="2652900" cy="16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/>
              <a:t>Contract Review Pain Points</a:t>
            </a:r>
            <a:endParaRPr b="1" sz="3000"/>
          </a:p>
        </p:txBody>
      </p:sp>
      <p:sp>
        <p:nvSpPr>
          <p:cNvPr id="100" name="Google Shape;100;p11"/>
          <p:cNvSpPr txBox="1"/>
          <p:nvPr/>
        </p:nvSpPr>
        <p:spPr>
          <a:xfrm>
            <a:off x="19994850" y="3882675"/>
            <a:ext cx="2864700" cy="16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</a:rPr>
              <a:t>Manual Work</a:t>
            </a:r>
            <a:endParaRPr b="1"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hours of repetitive clause by clause reading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/>
          </a:p>
        </p:txBody>
      </p:sp>
      <p:sp>
        <p:nvSpPr>
          <p:cNvPr id="101" name="Google Shape;101;p11"/>
          <p:cNvSpPr txBox="1"/>
          <p:nvPr/>
        </p:nvSpPr>
        <p:spPr>
          <a:xfrm>
            <a:off x="16971700" y="10854775"/>
            <a:ext cx="3090000" cy="16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chemeClr val="dk1"/>
                </a:solidFill>
              </a:rPr>
              <a:t>Missing Clauses</a:t>
            </a:r>
            <a:endParaRPr b="1"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critical risks go without systematic checks</a:t>
            </a:r>
            <a:endParaRPr/>
          </a:p>
        </p:txBody>
      </p:sp>
      <p:sp>
        <p:nvSpPr>
          <p:cNvPr id="102" name="Google Shape;102;p11"/>
          <p:cNvSpPr txBox="1"/>
          <p:nvPr/>
        </p:nvSpPr>
        <p:spPr>
          <a:xfrm>
            <a:off x="1421700" y="5830650"/>
            <a:ext cx="9297600" cy="50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/>
              <a:t>	Contract Review Is Broken</a:t>
            </a:r>
            <a:endParaRPr b="1" sz="4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Legal teams and businesses lose critical time and money on manual contract review. Three core points drive the need for an automated solution.</a:t>
            </a:r>
            <a:endParaRPr sz="3000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2"/>
          <p:cNvSpPr txBox="1"/>
          <p:nvPr/>
        </p:nvSpPr>
        <p:spPr>
          <a:xfrm>
            <a:off x="6569700" y="2390750"/>
            <a:ext cx="11244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032"/>
              </a:buClr>
              <a:buSzPts val="5400"/>
              <a:buFont typeface="Helvetica Neue"/>
              <a:buNone/>
            </a:pPr>
            <a:r>
              <a:rPr b="1" lang="en-US" sz="5400">
                <a:solidFill>
                  <a:srgbClr val="84003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Solution</a:t>
            </a:r>
            <a:endParaRPr/>
          </a:p>
        </p:txBody>
      </p:sp>
      <p:sp>
        <p:nvSpPr>
          <p:cNvPr id="108" name="Google Shape;108;p12"/>
          <p:cNvSpPr txBox="1"/>
          <p:nvPr/>
        </p:nvSpPr>
        <p:spPr>
          <a:xfrm>
            <a:off x="15540112" y="761668"/>
            <a:ext cx="76311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roxima Nova"/>
              <a:buNone/>
            </a:pPr>
            <a:r>
              <a:rPr b="1" lang="en-US" sz="2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Veridict</a:t>
            </a:r>
            <a:endParaRPr b="0" i="0" sz="2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" name="Google Shape;109;p12"/>
          <p:cNvSpPr/>
          <p:nvPr/>
        </p:nvSpPr>
        <p:spPr>
          <a:xfrm>
            <a:off x="1362300" y="5757800"/>
            <a:ext cx="9467700" cy="2185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6200">
            <a:solidFill>
              <a:srgbClr val="910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250"/>
              <a:buFont typeface="Heebo"/>
              <a:buNone/>
            </a:pPr>
            <a:r>
              <a:rPr b="1" lang="en-US" sz="30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rPr>
              <a:t>Instantly identifies key clauses — Payment, Liability, Compliance, Warranties, Confidentiality, Termination and more — across any contract type.</a:t>
            </a:r>
            <a:endParaRPr b="1" sz="3000">
              <a:solidFill>
                <a:schemeClr val="dk1"/>
              </a:solidFill>
            </a:endParaRPr>
          </a:p>
        </p:txBody>
      </p:sp>
      <p:sp>
        <p:nvSpPr>
          <p:cNvPr id="110" name="Google Shape;110;p12"/>
          <p:cNvSpPr txBox="1"/>
          <p:nvPr/>
        </p:nvSpPr>
        <p:spPr>
          <a:xfrm>
            <a:off x="3309000" y="4834400"/>
            <a:ext cx="7374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</a:rPr>
              <a:t>Automated Clause Detection</a:t>
            </a:r>
            <a:endParaRPr b="1" sz="3600">
              <a:solidFill>
                <a:schemeClr val="dk1"/>
              </a:solidFill>
            </a:endParaRPr>
          </a:p>
        </p:txBody>
      </p:sp>
      <p:sp>
        <p:nvSpPr>
          <p:cNvPr id="111" name="Google Shape;111;p12"/>
          <p:cNvSpPr/>
          <p:nvPr/>
        </p:nvSpPr>
        <p:spPr>
          <a:xfrm>
            <a:off x="12383500" y="5850850"/>
            <a:ext cx="10803000" cy="2092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6200">
            <a:solidFill>
              <a:srgbClr val="910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rPr>
              <a:t>Surfaces high-risk language and deviations from standard terms before they become liabilities.</a:t>
            </a:r>
            <a:endParaRPr b="1" sz="3000">
              <a:solidFill>
                <a:schemeClr val="dk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112" name="Google Shape;112;p12"/>
          <p:cNvSpPr txBox="1"/>
          <p:nvPr/>
        </p:nvSpPr>
        <p:spPr>
          <a:xfrm>
            <a:off x="15540100" y="4904450"/>
            <a:ext cx="3373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</a:rPr>
              <a:t>Risk Flagging</a:t>
            </a:r>
            <a:endParaRPr b="1" sz="3600">
              <a:solidFill>
                <a:schemeClr val="dk1"/>
              </a:solidFill>
            </a:endParaRPr>
          </a:p>
        </p:txBody>
      </p:sp>
      <p:sp>
        <p:nvSpPr>
          <p:cNvPr id="113" name="Google Shape;113;p12"/>
          <p:cNvSpPr/>
          <p:nvPr/>
        </p:nvSpPr>
        <p:spPr>
          <a:xfrm>
            <a:off x="1664775" y="9814675"/>
            <a:ext cx="9019200" cy="2092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6200">
            <a:solidFill>
              <a:srgbClr val="910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rPr>
              <a:t>Contracts processed in seconds, not hours — with structured, actionable output.</a:t>
            </a:r>
            <a:endParaRPr b="1" sz="3000">
              <a:solidFill>
                <a:schemeClr val="dk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114" name="Google Shape;114;p12"/>
          <p:cNvSpPr txBox="1"/>
          <p:nvPr/>
        </p:nvSpPr>
        <p:spPr>
          <a:xfrm>
            <a:off x="3689200" y="8798325"/>
            <a:ext cx="4785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</a:rPr>
              <a:t>Real-Time Analysis</a:t>
            </a:r>
            <a:endParaRPr b="1" sz="3600">
              <a:solidFill>
                <a:schemeClr val="dk1"/>
              </a:solidFill>
            </a:endParaRPr>
          </a:p>
        </p:txBody>
      </p:sp>
      <p:cxnSp>
        <p:nvCxnSpPr>
          <p:cNvPr id="115" name="Google Shape;115;p12"/>
          <p:cNvCxnSpPr/>
          <p:nvPr/>
        </p:nvCxnSpPr>
        <p:spPr>
          <a:xfrm flipH="1" rot="10800000">
            <a:off x="1362150" y="5564250"/>
            <a:ext cx="9467700" cy="73200"/>
          </a:xfrm>
          <a:prstGeom prst="straightConnector1">
            <a:avLst/>
          </a:prstGeom>
          <a:noFill/>
          <a:ln cap="flat" cmpd="sng" w="114300">
            <a:solidFill>
              <a:srgbClr val="91003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" name="Google Shape;116;p12"/>
          <p:cNvCxnSpPr/>
          <p:nvPr/>
        </p:nvCxnSpPr>
        <p:spPr>
          <a:xfrm>
            <a:off x="12383500" y="5613175"/>
            <a:ext cx="10803000" cy="121500"/>
          </a:xfrm>
          <a:prstGeom prst="straightConnector1">
            <a:avLst/>
          </a:prstGeom>
          <a:noFill/>
          <a:ln cap="flat" cmpd="sng" w="114300">
            <a:solidFill>
              <a:srgbClr val="91003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" name="Google Shape;117;p12"/>
          <p:cNvCxnSpPr/>
          <p:nvPr/>
        </p:nvCxnSpPr>
        <p:spPr>
          <a:xfrm flipH="1" rot="10800000">
            <a:off x="1580650" y="9612125"/>
            <a:ext cx="9043500" cy="6600"/>
          </a:xfrm>
          <a:prstGeom prst="straightConnector1">
            <a:avLst/>
          </a:prstGeom>
          <a:noFill/>
          <a:ln cap="flat" cmpd="sng" w="114300">
            <a:solidFill>
              <a:srgbClr val="91003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" name="Google Shape;118;p12"/>
          <p:cNvSpPr/>
          <p:nvPr/>
        </p:nvSpPr>
        <p:spPr>
          <a:xfrm>
            <a:off x="12699050" y="9721725"/>
            <a:ext cx="10584300" cy="2092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6200">
            <a:solidFill>
              <a:srgbClr val="910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rPr>
              <a:t>Smooth Interface For Legal Frameworks.</a:t>
            </a:r>
            <a:endParaRPr b="1" sz="3000">
              <a:solidFill>
                <a:schemeClr val="dk1"/>
              </a:solidFill>
            </a:endParaRPr>
          </a:p>
        </p:txBody>
      </p:sp>
      <p:sp>
        <p:nvSpPr>
          <p:cNvPr id="119" name="Google Shape;119;p12"/>
          <p:cNvSpPr txBox="1"/>
          <p:nvPr/>
        </p:nvSpPr>
        <p:spPr>
          <a:xfrm>
            <a:off x="16044545" y="8798325"/>
            <a:ext cx="3480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</a:rPr>
              <a:t>API First Design</a:t>
            </a:r>
            <a:endParaRPr b="1" sz="3000">
              <a:solidFill>
                <a:schemeClr val="dk1"/>
              </a:solidFill>
            </a:endParaRPr>
          </a:p>
        </p:txBody>
      </p:sp>
      <p:cxnSp>
        <p:nvCxnSpPr>
          <p:cNvPr id="120" name="Google Shape;120;p12"/>
          <p:cNvCxnSpPr/>
          <p:nvPr/>
        </p:nvCxnSpPr>
        <p:spPr>
          <a:xfrm>
            <a:off x="12699100" y="9497350"/>
            <a:ext cx="10584300" cy="121500"/>
          </a:xfrm>
          <a:prstGeom prst="straightConnector1">
            <a:avLst/>
          </a:prstGeom>
          <a:noFill/>
          <a:ln cap="flat" cmpd="sng" w="114300">
            <a:solidFill>
              <a:srgbClr val="91003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"/>
          <p:cNvSpPr txBox="1"/>
          <p:nvPr/>
        </p:nvSpPr>
        <p:spPr>
          <a:xfrm>
            <a:off x="6569676" y="2514751"/>
            <a:ext cx="1124464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032"/>
              </a:buClr>
              <a:buSzPts val="5400"/>
              <a:buFont typeface="Helvetica Neue"/>
              <a:buNone/>
            </a:pPr>
            <a:r>
              <a:rPr b="1" lang="en-US" sz="5400">
                <a:solidFill>
                  <a:srgbClr val="84003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Engineering Tradeoffs</a:t>
            </a:r>
            <a:endParaRPr/>
          </a:p>
        </p:txBody>
      </p:sp>
      <p:sp>
        <p:nvSpPr>
          <p:cNvPr id="126" name="Google Shape;126;p13"/>
          <p:cNvSpPr txBox="1"/>
          <p:nvPr/>
        </p:nvSpPr>
        <p:spPr>
          <a:xfrm>
            <a:off x="15540112" y="761668"/>
            <a:ext cx="76311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roxima Nova"/>
              <a:buNone/>
            </a:pPr>
            <a:r>
              <a:rPr b="1" lang="en-US" sz="2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Veridict</a:t>
            </a:r>
            <a:endParaRPr b="0" i="0" sz="2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127" name="Google Shape;127;p13"/>
          <p:cNvGraphicFramePr/>
          <p:nvPr/>
        </p:nvGraphicFramePr>
        <p:xfrm>
          <a:off x="593475" y="429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{C7E549C7-3CD7-4FE5-A0AF-3A7A5209F2C3}</a:tableStyleId>
              </a:tblPr>
              <a:tblGrid>
                <a:gridCol w="5729000"/>
                <a:gridCol w="5680450"/>
                <a:gridCol w="5680450"/>
                <a:gridCol w="5680450"/>
              </a:tblGrid>
              <a:tr h="2870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600"/>
                        <a:t>Engineering Tradeoffs</a:t>
                      </a:r>
                      <a:endParaRPr b="1" sz="3600"/>
                    </a:p>
                  </a:txBody>
                  <a:tcPr marT="91425" marB="91425" marR="91425" marL="91425" anchor="ctr">
                    <a:lnL cap="flat" cmpd="sng" w="76200">
                      <a:solidFill>
                        <a:srgbClr val="91003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91003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91003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91003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600"/>
                        <a:t>     Privacy vs </a:t>
                      </a:r>
                      <a:endParaRPr b="1" sz="36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600"/>
                        <a:t>LLM Size</a:t>
                      </a:r>
                      <a:endParaRPr b="1" sz="3600"/>
                    </a:p>
                  </a:txBody>
                  <a:tcPr marT="91425" marB="91425" marR="91425" marL="91425" anchor="ctr">
                    <a:lnL cap="flat" cmpd="sng" w="76200">
                      <a:solidFill>
                        <a:srgbClr val="91003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91003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91003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91003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600"/>
                        <a:t>      Accuracy vs       Latency</a:t>
                      </a:r>
                      <a:endParaRPr b="1" sz="3600"/>
                    </a:p>
                  </a:txBody>
                  <a:tcPr marT="91425" marB="91425" marR="91425" marL="91425" anchor="ctr">
                    <a:lnL cap="flat" cmpd="sng" w="76200">
                      <a:solidFill>
                        <a:srgbClr val="91003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91003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91003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91003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600"/>
                        <a:t>          Output Quality vs      Complexity</a:t>
                      </a:r>
                      <a:endParaRPr b="1" sz="3600"/>
                    </a:p>
                  </a:txBody>
                  <a:tcPr marT="91425" marB="91425" marR="91425" marL="91425" anchor="ctr">
                    <a:lnL cap="flat" cmpd="sng" w="76200">
                      <a:solidFill>
                        <a:srgbClr val="91003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91003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91003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91003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70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600"/>
                        <a:t>Selected Tradeoff</a:t>
                      </a:r>
                      <a:endParaRPr b="1" sz="3600"/>
                    </a:p>
                  </a:txBody>
                  <a:tcPr marT="91425" marB="91425" marR="91425" marL="91425" anchor="ctr">
                    <a:lnL cap="flat" cmpd="sng" w="76200">
                      <a:solidFill>
                        <a:srgbClr val="91003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91003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91003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91003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600"/>
                        <a:t>Privacy</a:t>
                      </a:r>
                      <a:endParaRPr b="1" sz="3600"/>
                    </a:p>
                  </a:txBody>
                  <a:tcPr marT="91425" marB="91425" marR="91425" marL="91425" anchor="ctr">
                    <a:lnL cap="flat" cmpd="sng" w="76200">
                      <a:solidFill>
                        <a:srgbClr val="91003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91003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91003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91003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600"/>
                        <a:t>Accuracy</a:t>
                      </a:r>
                      <a:endParaRPr b="1" sz="3600"/>
                    </a:p>
                  </a:txBody>
                  <a:tcPr marT="91425" marB="91425" marR="91425" marL="91425" anchor="ctr">
                    <a:lnL cap="flat" cmpd="sng" w="76200">
                      <a:solidFill>
                        <a:srgbClr val="91003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91003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91003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91003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600"/>
                        <a:t>Complexity</a:t>
                      </a:r>
                      <a:endParaRPr b="1" sz="3600"/>
                    </a:p>
                  </a:txBody>
                  <a:tcPr marT="91425" marB="91425" marR="91425" marL="91425" anchor="ctr">
                    <a:lnL cap="flat" cmpd="sng" w="76200">
                      <a:solidFill>
                        <a:srgbClr val="91003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91003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91003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91003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70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600"/>
                        <a:t>Reason</a:t>
                      </a:r>
                      <a:endParaRPr b="1" sz="3600"/>
                    </a:p>
                  </a:txBody>
                  <a:tcPr marT="91425" marB="91425" marR="91425" marL="91425" anchor="ctr">
                    <a:lnL cap="flat" cmpd="sng" w="76200">
                      <a:solidFill>
                        <a:srgbClr val="91003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91003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91003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91003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419100" lvl="0" marL="45720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0"/>
                        <a:buChar char="●"/>
                      </a:pPr>
                      <a:r>
                        <a:rPr b="1" lang="en-US" sz="3000">
                          <a:solidFill>
                            <a:schemeClr val="dk1"/>
                          </a:solidFill>
                        </a:rPr>
                        <a:t>Local Models instead of APIs</a:t>
                      </a:r>
                      <a:endParaRPr b="1" sz="3000">
                        <a:solidFill>
                          <a:schemeClr val="dk1"/>
                        </a:solidFill>
                      </a:endParaRPr>
                    </a:p>
                    <a:p>
                      <a:pPr indent="-419100" lvl="0" marL="45720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0"/>
                        <a:buChar char="●"/>
                      </a:pPr>
                      <a:r>
                        <a:rPr b="1" lang="en-US" sz="3000">
                          <a:solidFill>
                            <a:schemeClr val="dk1"/>
                          </a:solidFill>
                        </a:rPr>
                        <a:t>Preserve Privacy over Model Size </a:t>
                      </a:r>
                      <a:endParaRPr b="1" sz="3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76200">
                      <a:solidFill>
                        <a:srgbClr val="91003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91003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91003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91003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419100" lvl="0" marL="45720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SzPts val="3000"/>
                        <a:buChar char="●"/>
                      </a:pPr>
                      <a:r>
                        <a:rPr b="1" lang="en-US" sz="3000"/>
                        <a:t>Multi-Step Pipeline</a:t>
                      </a:r>
                      <a:endParaRPr b="1" sz="3000"/>
                    </a:p>
                    <a:p>
                      <a:pPr indent="-419100" lvl="0" marL="45720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SzPts val="3000"/>
                        <a:buChar char="●"/>
                      </a:pPr>
                      <a:r>
                        <a:rPr b="1" lang="en-US" sz="3000"/>
                        <a:t>Validation Reduces Error</a:t>
                      </a:r>
                      <a:endParaRPr b="1" sz="3000"/>
                    </a:p>
                    <a:p>
                      <a:pPr indent="-419100" lvl="0" marL="45720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SzPts val="3000"/>
                        <a:buChar char="●"/>
                      </a:pPr>
                      <a:r>
                        <a:rPr b="1" lang="en-US" sz="3000"/>
                        <a:t>Human Review Ensures Correctness</a:t>
                      </a:r>
                      <a:endParaRPr b="1" sz="3000"/>
                    </a:p>
                  </a:txBody>
                  <a:tcPr marT="91425" marB="91425" marR="91425" marL="91425" anchor="ctr">
                    <a:lnL cap="flat" cmpd="sng" w="76200">
                      <a:solidFill>
                        <a:srgbClr val="91003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91003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91003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91003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419100" lvl="0" marL="45720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SzPts val="3000"/>
                        <a:buChar char="●"/>
                      </a:pPr>
                      <a:r>
                        <a:rPr b="1" lang="en-US" sz="3000"/>
                        <a:t>Validation, Review, Retrial Adds Robustness</a:t>
                      </a:r>
                      <a:endParaRPr b="1" sz="3000"/>
                    </a:p>
                  </a:txBody>
                  <a:tcPr marT="91425" marB="91425" marR="91425" marL="91425" anchor="ctr">
                    <a:lnL cap="flat" cmpd="sng" w="76200">
                      <a:solidFill>
                        <a:srgbClr val="91003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91003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91003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91003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28" name="Google Shape;12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33475" y="5727243"/>
            <a:ext cx="626075" cy="62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33475" y="8284075"/>
            <a:ext cx="626075" cy="62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33475" y="5101188"/>
            <a:ext cx="626075" cy="62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590150" y="5101188"/>
            <a:ext cx="626075" cy="62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590150" y="8284070"/>
            <a:ext cx="626075" cy="62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590150" y="5727245"/>
            <a:ext cx="626075" cy="62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676800" y="5101187"/>
            <a:ext cx="626075" cy="62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676800" y="8284087"/>
            <a:ext cx="626075" cy="62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487700" y="5727250"/>
            <a:ext cx="626075" cy="62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"/>
          <p:cNvSpPr txBox="1"/>
          <p:nvPr/>
        </p:nvSpPr>
        <p:spPr>
          <a:xfrm>
            <a:off x="5069305" y="2625591"/>
            <a:ext cx="14245500" cy="8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40032"/>
              </a:buClr>
              <a:buSzPts val="5400"/>
              <a:buFont typeface="Helvetica Neue"/>
              <a:buNone/>
            </a:pPr>
            <a:r>
              <a:rPr b="1" lang="en-US" sz="5400">
                <a:solidFill>
                  <a:srgbClr val="84003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&amp; Training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15540112" y="761668"/>
            <a:ext cx="76311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roxima Nova"/>
              <a:buNone/>
            </a:pPr>
            <a:r>
              <a:rPr b="1" lang="en-US" sz="2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Veridict</a:t>
            </a:r>
            <a:endParaRPr b="0" i="0" sz="2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7" name="Google Shape;147;p15"/>
          <p:cNvSpPr/>
          <p:nvPr/>
        </p:nvSpPr>
        <p:spPr>
          <a:xfrm>
            <a:off x="512500" y="6438550"/>
            <a:ext cx="2937300" cy="4539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6200">
            <a:solidFill>
              <a:srgbClr val="910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5"/>
          <p:cNvSpPr/>
          <p:nvPr/>
        </p:nvSpPr>
        <p:spPr>
          <a:xfrm>
            <a:off x="828100" y="5880200"/>
            <a:ext cx="2306100" cy="1189500"/>
          </a:xfrm>
          <a:prstGeom prst="roundRect">
            <a:avLst>
              <a:gd fmla="val 16667" name="adj"/>
            </a:avLst>
          </a:prstGeom>
          <a:solidFill>
            <a:srgbClr val="91003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2F2F2"/>
                </a:solidFill>
                <a:highlight>
                  <a:srgbClr val="910030"/>
                </a:highlight>
              </a:rPr>
              <a:t>Datasets</a:t>
            </a:r>
            <a:endParaRPr b="1" sz="3000">
              <a:solidFill>
                <a:srgbClr val="F2F2F2"/>
              </a:solidFill>
              <a:highlight>
                <a:srgbClr val="910030"/>
              </a:highlight>
            </a:endParaRPr>
          </a:p>
        </p:txBody>
      </p:sp>
      <p:sp>
        <p:nvSpPr>
          <p:cNvPr id="149" name="Google Shape;149;p15"/>
          <p:cNvSpPr txBox="1"/>
          <p:nvPr/>
        </p:nvSpPr>
        <p:spPr>
          <a:xfrm>
            <a:off x="627375" y="7295675"/>
            <a:ext cx="2937300" cy="3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/>
              <a:t>Labeled Dataset but not with severity findings</a:t>
            </a:r>
            <a:endParaRPr b="1" sz="3000"/>
          </a:p>
        </p:txBody>
      </p:sp>
      <p:sp>
        <p:nvSpPr>
          <p:cNvPr id="150" name="Google Shape;150;p15"/>
          <p:cNvSpPr/>
          <p:nvPr/>
        </p:nvSpPr>
        <p:spPr>
          <a:xfrm>
            <a:off x="3564675" y="8162225"/>
            <a:ext cx="3068700" cy="1189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76200">
            <a:solidFill>
              <a:srgbClr val="910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DeepSeek v4 Pro</a:t>
            </a:r>
            <a:endParaRPr b="1" sz="2400"/>
          </a:p>
        </p:txBody>
      </p:sp>
      <p:sp>
        <p:nvSpPr>
          <p:cNvPr id="151" name="Google Shape;151;p15"/>
          <p:cNvSpPr/>
          <p:nvPr/>
        </p:nvSpPr>
        <p:spPr>
          <a:xfrm>
            <a:off x="6751600" y="6487175"/>
            <a:ext cx="4952100" cy="4539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6200">
            <a:solidFill>
              <a:srgbClr val="910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5"/>
          <p:cNvSpPr/>
          <p:nvPr/>
        </p:nvSpPr>
        <p:spPr>
          <a:xfrm>
            <a:off x="7297750" y="5880199"/>
            <a:ext cx="3629100" cy="1253100"/>
          </a:xfrm>
          <a:prstGeom prst="roundRect">
            <a:avLst>
              <a:gd fmla="val 16667" name="adj"/>
            </a:avLst>
          </a:prstGeom>
          <a:solidFill>
            <a:srgbClr val="91003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2F2F2"/>
                </a:solidFill>
                <a:highlight>
                  <a:srgbClr val="910030"/>
                </a:highlight>
              </a:rPr>
              <a:t>Distilled</a:t>
            </a:r>
            <a:endParaRPr b="1" sz="3000">
              <a:solidFill>
                <a:srgbClr val="F2F2F2"/>
              </a:solidFill>
              <a:highlight>
                <a:srgbClr val="910030"/>
              </a:highlight>
            </a:endParaRPr>
          </a:p>
        </p:txBody>
      </p:sp>
      <p:sp>
        <p:nvSpPr>
          <p:cNvPr id="153" name="Google Shape;153;p15"/>
          <p:cNvSpPr txBox="1"/>
          <p:nvPr/>
        </p:nvSpPr>
        <p:spPr>
          <a:xfrm>
            <a:off x="7346100" y="7628100"/>
            <a:ext cx="3993600" cy="34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b="1" lang="en-US" sz="3000"/>
              <a:t>Added:</a:t>
            </a:r>
            <a:endParaRPr b="1" sz="3000"/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Char char="○"/>
            </a:pPr>
            <a:r>
              <a:rPr b="1" lang="en-US" sz="3000"/>
              <a:t>Risk Type</a:t>
            </a:r>
            <a:endParaRPr b="1" sz="3000"/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Char char="○"/>
            </a:pPr>
            <a:r>
              <a:rPr b="1" lang="en-US" sz="3000"/>
              <a:t>Severity</a:t>
            </a:r>
            <a:endParaRPr b="1" sz="3000"/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Char char="○"/>
            </a:pPr>
            <a:r>
              <a:rPr b="1" lang="en-US" sz="3000"/>
              <a:t>Explanation</a:t>
            </a:r>
            <a:endParaRPr b="1" sz="3000"/>
          </a:p>
        </p:txBody>
      </p:sp>
      <p:cxnSp>
        <p:nvCxnSpPr>
          <p:cNvPr id="154" name="Google Shape;154;p15"/>
          <p:cNvCxnSpPr/>
          <p:nvPr/>
        </p:nvCxnSpPr>
        <p:spPr>
          <a:xfrm>
            <a:off x="12192000" y="4969925"/>
            <a:ext cx="0" cy="7574100"/>
          </a:xfrm>
          <a:prstGeom prst="straightConnector1">
            <a:avLst/>
          </a:prstGeom>
          <a:noFill/>
          <a:ln cap="flat" cmpd="sng" w="114300">
            <a:solidFill>
              <a:srgbClr val="91003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" name="Google Shape;155;p15"/>
          <p:cNvSpPr/>
          <p:nvPr/>
        </p:nvSpPr>
        <p:spPr>
          <a:xfrm>
            <a:off x="12680300" y="6487175"/>
            <a:ext cx="2937300" cy="4491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6200">
            <a:solidFill>
              <a:srgbClr val="910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/>
              <a:t>Distilled Data</a:t>
            </a:r>
            <a:endParaRPr b="1" sz="3000"/>
          </a:p>
        </p:txBody>
      </p:sp>
      <p:sp>
        <p:nvSpPr>
          <p:cNvPr id="156" name="Google Shape;156;p15"/>
          <p:cNvSpPr/>
          <p:nvPr/>
        </p:nvSpPr>
        <p:spPr>
          <a:xfrm>
            <a:off x="15744688" y="8271425"/>
            <a:ext cx="3378900" cy="1189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76200">
            <a:solidFill>
              <a:srgbClr val="910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QLora</a:t>
            </a:r>
            <a:endParaRPr b="1" sz="2400"/>
          </a:p>
        </p:txBody>
      </p:sp>
      <p:sp>
        <p:nvSpPr>
          <p:cNvPr id="157" name="Google Shape;157;p15"/>
          <p:cNvSpPr/>
          <p:nvPr/>
        </p:nvSpPr>
        <p:spPr>
          <a:xfrm>
            <a:off x="19261850" y="6462850"/>
            <a:ext cx="2937300" cy="4491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6200">
            <a:solidFill>
              <a:srgbClr val="910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/>
              <a:t>Fine-Tuned Gemma 4 26B</a:t>
            </a:r>
            <a:endParaRPr b="1" sz="3000"/>
          </a:p>
        </p:txBody>
      </p:sp>
      <p:sp>
        <p:nvSpPr>
          <p:cNvPr id="158" name="Google Shape;158;p15"/>
          <p:cNvSpPr/>
          <p:nvPr/>
        </p:nvSpPr>
        <p:spPr>
          <a:xfrm>
            <a:off x="12995900" y="5912000"/>
            <a:ext cx="2306100" cy="1189500"/>
          </a:xfrm>
          <a:prstGeom prst="roundRect">
            <a:avLst>
              <a:gd fmla="val 16667" name="adj"/>
            </a:avLst>
          </a:prstGeom>
          <a:solidFill>
            <a:srgbClr val="91003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2F2F2"/>
                </a:solidFill>
                <a:highlight>
                  <a:srgbClr val="910030"/>
                </a:highlight>
              </a:rPr>
              <a:t>Training Data</a:t>
            </a:r>
            <a:endParaRPr b="1" sz="3000">
              <a:solidFill>
                <a:srgbClr val="F2F2F2"/>
              </a:solidFill>
              <a:highlight>
                <a:srgbClr val="910030"/>
              </a:highlight>
            </a:endParaRPr>
          </a:p>
        </p:txBody>
      </p:sp>
      <p:sp>
        <p:nvSpPr>
          <p:cNvPr id="159" name="Google Shape;159;p15"/>
          <p:cNvSpPr/>
          <p:nvPr/>
        </p:nvSpPr>
        <p:spPr>
          <a:xfrm>
            <a:off x="19577450" y="5912000"/>
            <a:ext cx="2306100" cy="1189500"/>
          </a:xfrm>
          <a:prstGeom prst="roundRect">
            <a:avLst>
              <a:gd fmla="val 16667" name="adj"/>
            </a:avLst>
          </a:prstGeom>
          <a:solidFill>
            <a:srgbClr val="91003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2F2F2"/>
                </a:solidFill>
                <a:highlight>
                  <a:srgbClr val="910030"/>
                </a:highlight>
              </a:rPr>
              <a:t>Kira</a:t>
            </a:r>
            <a:endParaRPr b="1" sz="3000">
              <a:solidFill>
                <a:srgbClr val="F2F2F2"/>
              </a:solidFill>
              <a:highlight>
                <a:srgbClr val="910030"/>
              </a:highlight>
            </a:endParaRPr>
          </a:p>
        </p:txBody>
      </p:sp>
      <p:sp>
        <p:nvSpPr>
          <p:cNvPr id="160" name="Google Shape;160;p15"/>
          <p:cNvSpPr txBox="1"/>
          <p:nvPr/>
        </p:nvSpPr>
        <p:spPr>
          <a:xfrm>
            <a:off x="828100" y="4969925"/>
            <a:ext cx="88851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40032"/>
              </a:buClr>
              <a:buSzPts val="5400"/>
              <a:buFont typeface="Helvetica Neue"/>
              <a:buNone/>
            </a:pPr>
            <a:r>
              <a:rPr b="1" lang="en-US" sz="4200">
                <a:solidFill>
                  <a:srgbClr val="84003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Distillation</a:t>
            </a:r>
            <a:endParaRPr sz="4200"/>
          </a:p>
        </p:txBody>
      </p:sp>
      <p:sp>
        <p:nvSpPr>
          <p:cNvPr id="161" name="Google Shape;161;p15"/>
          <p:cNvSpPr txBox="1"/>
          <p:nvPr/>
        </p:nvSpPr>
        <p:spPr>
          <a:xfrm>
            <a:off x="12997175" y="4969925"/>
            <a:ext cx="88851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40032"/>
              </a:buClr>
              <a:buSzPts val="5400"/>
              <a:buFont typeface="Helvetica Neue"/>
              <a:buNone/>
            </a:pPr>
            <a:r>
              <a:rPr b="1" lang="en-US" sz="4200">
                <a:solidFill>
                  <a:srgbClr val="84003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Model Fine-Tuning</a:t>
            </a:r>
            <a:endParaRPr sz="4200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6"/>
          <p:cNvSpPr txBox="1"/>
          <p:nvPr/>
        </p:nvSpPr>
        <p:spPr>
          <a:xfrm>
            <a:off x="5069305" y="2625591"/>
            <a:ext cx="14245500" cy="8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40032"/>
              </a:buClr>
              <a:buSzPts val="5400"/>
              <a:buFont typeface="Helvetica Neue"/>
              <a:buNone/>
            </a:pPr>
            <a:r>
              <a:rPr b="1" lang="en-US" sz="5400">
                <a:solidFill>
                  <a:srgbClr val="84003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Why Fine-Tuning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15540112" y="761668"/>
            <a:ext cx="76311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roxima Nova"/>
              <a:buNone/>
            </a:pPr>
            <a:r>
              <a:rPr b="1" lang="en-US" sz="2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Veridict</a:t>
            </a:r>
            <a:endParaRPr b="0" i="0" sz="2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8" name="Google Shape;168;p16"/>
          <p:cNvSpPr/>
          <p:nvPr/>
        </p:nvSpPr>
        <p:spPr>
          <a:xfrm>
            <a:off x="1698175" y="5091775"/>
            <a:ext cx="6330000" cy="324000"/>
          </a:xfrm>
          <a:prstGeom prst="roundRect">
            <a:avLst>
              <a:gd fmla="val 16667" name="adj"/>
            </a:avLst>
          </a:prstGeom>
          <a:solidFill>
            <a:srgbClr val="91003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6"/>
          <p:cNvSpPr/>
          <p:nvPr/>
        </p:nvSpPr>
        <p:spPr>
          <a:xfrm>
            <a:off x="4461125" y="4828371"/>
            <a:ext cx="850800" cy="850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0" name="Google Shape;17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1125" y="4832720"/>
            <a:ext cx="850800" cy="85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6"/>
          <p:cNvSpPr txBox="1"/>
          <p:nvPr/>
        </p:nvSpPr>
        <p:spPr>
          <a:xfrm>
            <a:off x="1997375" y="5864675"/>
            <a:ext cx="5859000" cy="19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/>
              <a:t>Domain Specificity</a:t>
            </a:r>
            <a:endParaRPr b="1"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Legal language requires precision that general-purpose LLMs lack out of the box</a:t>
            </a:r>
            <a:endParaRPr sz="2400"/>
          </a:p>
        </p:txBody>
      </p:sp>
      <p:sp>
        <p:nvSpPr>
          <p:cNvPr id="172" name="Google Shape;172;p16"/>
          <p:cNvSpPr/>
          <p:nvPr/>
        </p:nvSpPr>
        <p:spPr>
          <a:xfrm>
            <a:off x="9079375" y="5091775"/>
            <a:ext cx="6330000" cy="324000"/>
          </a:xfrm>
          <a:prstGeom prst="roundRect">
            <a:avLst>
              <a:gd fmla="val 16667" name="adj"/>
            </a:avLst>
          </a:prstGeom>
          <a:solidFill>
            <a:srgbClr val="91003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6"/>
          <p:cNvSpPr/>
          <p:nvPr/>
        </p:nvSpPr>
        <p:spPr>
          <a:xfrm>
            <a:off x="11842325" y="4828371"/>
            <a:ext cx="850800" cy="850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6"/>
          <p:cNvSpPr txBox="1"/>
          <p:nvPr/>
        </p:nvSpPr>
        <p:spPr>
          <a:xfrm>
            <a:off x="9378575" y="5864675"/>
            <a:ext cx="5859000" cy="19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/>
              <a:t>Limitations of Prompting</a:t>
            </a:r>
            <a:endParaRPr b="1"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Prompting ≠ Behavior Change → Only Guides Output 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pic>
        <p:nvPicPr>
          <p:cNvPr id="175" name="Google Shape;17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862088" y="4871487"/>
            <a:ext cx="764575" cy="76457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6"/>
          <p:cNvSpPr/>
          <p:nvPr/>
        </p:nvSpPr>
        <p:spPr>
          <a:xfrm>
            <a:off x="16337550" y="5091775"/>
            <a:ext cx="6330000" cy="324000"/>
          </a:xfrm>
          <a:prstGeom prst="roundRect">
            <a:avLst>
              <a:gd fmla="val 16667" name="adj"/>
            </a:avLst>
          </a:prstGeom>
          <a:solidFill>
            <a:srgbClr val="91003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6"/>
          <p:cNvSpPr/>
          <p:nvPr/>
        </p:nvSpPr>
        <p:spPr>
          <a:xfrm>
            <a:off x="19100500" y="4828371"/>
            <a:ext cx="850800" cy="850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6"/>
          <p:cNvSpPr txBox="1"/>
          <p:nvPr/>
        </p:nvSpPr>
        <p:spPr>
          <a:xfrm>
            <a:off x="16636750" y="5864675"/>
            <a:ext cx="6330000" cy="19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/>
              <a:t>Benefits of Fine-Tuning</a:t>
            </a:r>
            <a:endParaRPr b="1"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Fine-Tuning → Improves Structure, Quality, and Consistency 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pic>
        <p:nvPicPr>
          <p:cNvPr id="179" name="Google Shape;179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176825" y="4887921"/>
            <a:ext cx="764575" cy="76457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6"/>
          <p:cNvSpPr/>
          <p:nvPr/>
        </p:nvSpPr>
        <p:spPr>
          <a:xfrm>
            <a:off x="5311925" y="9108725"/>
            <a:ext cx="6330000" cy="324000"/>
          </a:xfrm>
          <a:prstGeom prst="roundRect">
            <a:avLst>
              <a:gd fmla="val 16667" name="adj"/>
            </a:avLst>
          </a:prstGeom>
          <a:solidFill>
            <a:srgbClr val="91003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6"/>
          <p:cNvSpPr/>
          <p:nvPr/>
        </p:nvSpPr>
        <p:spPr>
          <a:xfrm>
            <a:off x="8074875" y="8845321"/>
            <a:ext cx="850800" cy="850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6"/>
          <p:cNvSpPr txBox="1"/>
          <p:nvPr/>
        </p:nvSpPr>
        <p:spPr>
          <a:xfrm>
            <a:off x="5312025" y="9881625"/>
            <a:ext cx="6330000" cy="19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/>
              <a:t>Behavior Consistency</a:t>
            </a:r>
            <a:endParaRPr b="1"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Enables predictable and repeatable behavior, which is critical for integration into a multi-stage pipeline </a:t>
            </a:r>
            <a:endParaRPr sz="2400"/>
          </a:p>
        </p:txBody>
      </p:sp>
      <p:pic>
        <p:nvPicPr>
          <p:cNvPr id="183" name="Google Shape;183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94625" y="8888425"/>
            <a:ext cx="764575" cy="76457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6"/>
          <p:cNvSpPr/>
          <p:nvPr/>
        </p:nvSpPr>
        <p:spPr>
          <a:xfrm>
            <a:off x="13461700" y="9108725"/>
            <a:ext cx="6330000" cy="324000"/>
          </a:xfrm>
          <a:prstGeom prst="roundRect">
            <a:avLst>
              <a:gd fmla="val 16667" name="adj"/>
            </a:avLst>
          </a:prstGeom>
          <a:solidFill>
            <a:srgbClr val="91003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6"/>
          <p:cNvSpPr/>
          <p:nvPr/>
        </p:nvSpPr>
        <p:spPr>
          <a:xfrm>
            <a:off x="16224650" y="8845321"/>
            <a:ext cx="850800" cy="850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6"/>
          <p:cNvSpPr txBox="1"/>
          <p:nvPr/>
        </p:nvSpPr>
        <p:spPr>
          <a:xfrm>
            <a:off x="13461800" y="9881625"/>
            <a:ext cx="6330000" cy="19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/>
              <a:t>Reliable Risk Detection</a:t>
            </a:r>
            <a:endParaRPr b="1"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Reduces hallucinations and improves task-specific performance on contract risk detection </a:t>
            </a:r>
            <a:endParaRPr sz="2400"/>
          </a:p>
        </p:txBody>
      </p:sp>
      <p:pic>
        <p:nvPicPr>
          <p:cNvPr id="187" name="Google Shape;187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6326636" y="8947298"/>
            <a:ext cx="646825" cy="64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7"/>
          <p:cNvSpPr txBox="1"/>
          <p:nvPr/>
        </p:nvSpPr>
        <p:spPr>
          <a:xfrm>
            <a:off x="6094344" y="2706181"/>
            <a:ext cx="1219531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032"/>
              </a:buClr>
              <a:buSzPts val="5400"/>
              <a:buFont typeface="Helvetica Neue"/>
              <a:buNone/>
            </a:pPr>
            <a:r>
              <a:rPr b="1" lang="en-US" sz="5400">
                <a:solidFill>
                  <a:srgbClr val="84003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Deployment Strategy</a:t>
            </a:r>
            <a:endParaRPr/>
          </a:p>
        </p:txBody>
      </p:sp>
      <p:sp>
        <p:nvSpPr>
          <p:cNvPr id="193" name="Google Shape;193;p17"/>
          <p:cNvSpPr txBox="1"/>
          <p:nvPr/>
        </p:nvSpPr>
        <p:spPr>
          <a:xfrm>
            <a:off x="15540112" y="761668"/>
            <a:ext cx="76311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roxima Nova"/>
              <a:buNone/>
            </a:pPr>
            <a:r>
              <a:rPr b="1" lang="en-US" sz="2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Veridict</a:t>
            </a:r>
            <a:endParaRPr b="0" i="0" sz="2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4" name="Google Shape;194;p17"/>
          <p:cNvSpPr/>
          <p:nvPr/>
        </p:nvSpPr>
        <p:spPr>
          <a:xfrm>
            <a:off x="9742300" y="4790425"/>
            <a:ext cx="6573900" cy="2136300"/>
          </a:xfrm>
          <a:prstGeom prst="roundRect">
            <a:avLst>
              <a:gd fmla="val 16667" name="adj"/>
            </a:avLst>
          </a:prstGeom>
          <a:solidFill>
            <a:srgbClr val="91003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</a:rPr>
              <a:t>REST API Connection between RunPod and Google Cloud</a:t>
            </a:r>
            <a:endParaRPr sz="3000">
              <a:solidFill>
                <a:schemeClr val="lt1"/>
              </a:solidFill>
            </a:endParaRPr>
          </a:p>
        </p:txBody>
      </p:sp>
      <p:sp>
        <p:nvSpPr>
          <p:cNvPr id="195" name="Google Shape;195;p17"/>
          <p:cNvSpPr/>
          <p:nvPr/>
        </p:nvSpPr>
        <p:spPr>
          <a:xfrm>
            <a:off x="17292075" y="4652000"/>
            <a:ext cx="6227100" cy="2136300"/>
          </a:xfrm>
          <a:prstGeom prst="roundRect">
            <a:avLst>
              <a:gd fmla="val 16667" name="adj"/>
            </a:avLst>
          </a:prstGeom>
          <a:solidFill>
            <a:srgbClr val="91003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</a:rPr>
              <a:t>Google Kubernetes Engine for Orchestration</a:t>
            </a:r>
            <a:endParaRPr sz="3000">
              <a:solidFill>
                <a:schemeClr val="lt1"/>
              </a:solidFill>
            </a:endParaRPr>
          </a:p>
        </p:txBody>
      </p:sp>
      <p:sp>
        <p:nvSpPr>
          <p:cNvPr id="196" name="Google Shape;196;p17"/>
          <p:cNvSpPr/>
          <p:nvPr/>
        </p:nvSpPr>
        <p:spPr>
          <a:xfrm>
            <a:off x="1965425" y="4790425"/>
            <a:ext cx="6801000" cy="2136300"/>
          </a:xfrm>
          <a:prstGeom prst="roundRect">
            <a:avLst>
              <a:gd fmla="val 16667" name="adj"/>
            </a:avLst>
          </a:prstGeom>
          <a:solidFill>
            <a:srgbClr val="91003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</a:rPr>
              <a:t>RunPod GPU to Host the LLMs</a:t>
            </a:r>
            <a:endParaRPr sz="3000">
              <a:solidFill>
                <a:schemeClr val="lt1"/>
              </a:solidFill>
            </a:endParaRPr>
          </a:p>
        </p:txBody>
      </p:sp>
      <p:sp>
        <p:nvSpPr>
          <p:cNvPr id="197" name="Google Shape;197;p17"/>
          <p:cNvSpPr/>
          <p:nvPr/>
        </p:nvSpPr>
        <p:spPr>
          <a:xfrm>
            <a:off x="2624525" y="7943675"/>
            <a:ext cx="14954100" cy="1480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76200">
            <a:solidFill>
              <a:srgbClr val="910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910030"/>
                </a:solidFill>
              </a:rPr>
              <a:t>User Sends Request Via Public IP</a:t>
            </a:r>
            <a:endParaRPr b="1" sz="3000">
              <a:solidFill>
                <a:srgbClr val="910030"/>
              </a:solidFill>
            </a:endParaRPr>
          </a:p>
        </p:txBody>
      </p:sp>
      <p:sp>
        <p:nvSpPr>
          <p:cNvPr id="198" name="Google Shape;198;p17"/>
          <p:cNvSpPr/>
          <p:nvPr/>
        </p:nvSpPr>
        <p:spPr>
          <a:xfrm>
            <a:off x="2624525" y="9674025"/>
            <a:ext cx="17697300" cy="1480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76200">
            <a:solidFill>
              <a:srgbClr val="910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910030"/>
                </a:solidFill>
              </a:rPr>
              <a:t>REST APIs Send User Request to LLMs On RunPod</a:t>
            </a:r>
            <a:endParaRPr b="1" sz="3000">
              <a:solidFill>
                <a:srgbClr val="910030"/>
              </a:solidFill>
            </a:endParaRPr>
          </a:p>
        </p:txBody>
      </p:sp>
      <p:sp>
        <p:nvSpPr>
          <p:cNvPr id="199" name="Google Shape;199;p17"/>
          <p:cNvSpPr/>
          <p:nvPr/>
        </p:nvSpPr>
        <p:spPr>
          <a:xfrm>
            <a:off x="2624525" y="11307250"/>
            <a:ext cx="20546700" cy="1480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76200">
            <a:solidFill>
              <a:srgbClr val="910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910030"/>
                </a:solidFill>
              </a:rPr>
              <a:t>LLMs Provide Answer Through REST APIs Back to UI Hosted on Google Cloud</a:t>
            </a:r>
            <a:endParaRPr b="1" sz="3000">
              <a:solidFill>
                <a:srgbClr val="910030"/>
              </a:solidFill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8"/>
          <p:cNvSpPr txBox="1"/>
          <p:nvPr/>
        </p:nvSpPr>
        <p:spPr>
          <a:xfrm>
            <a:off x="3527309" y="2647954"/>
            <a:ext cx="17329500" cy="8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91633"/>
              </a:buClr>
              <a:buSzPts val="5400"/>
              <a:buFont typeface="Helvetica Neue"/>
              <a:buNone/>
            </a:pPr>
            <a:r>
              <a:rPr b="1" lang="en-US" sz="5400">
                <a:solidFill>
                  <a:srgbClr val="7916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LLMOps Strategy</a:t>
            </a:r>
            <a:endParaRPr/>
          </a:p>
        </p:txBody>
      </p:sp>
      <p:sp>
        <p:nvSpPr>
          <p:cNvPr id="205" name="Google Shape;205;p18"/>
          <p:cNvSpPr txBox="1"/>
          <p:nvPr/>
        </p:nvSpPr>
        <p:spPr>
          <a:xfrm>
            <a:off x="15540112" y="761668"/>
            <a:ext cx="76311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roxima Nova"/>
              <a:buNone/>
            </a:pPr>
            <a:r>
              <a:rPr b="1" lang="en-US" sz="2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Veridict</a:t>
            </a:r>
            <a:endParaRPr b="1" sz="26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949000" y="3852774"/>
            <a:ext cx="21970500" cy="2109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6200">
            <a:solidFill>
              <a:srgbClr val="910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8"/>
          <p:cNvSpPr/>
          <p:nvPr/>
        </p:nvSpPr>
        <p:spPr>
          <a:xfrm>
            <a:off x="1803674" y="3622375"/>
            <a:ext cx="19929600" cy="537600"/>
          </a:xfrm>
          <a:prstGeom prst="roundRect">
            <a:avLst>
              <a:gd fmla="val 16667" name="adj"/>
            </a:avLst>
          </a:prstGeom>
          <a:solidFill>
            <a:srgbClr val="91003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2F2F2"/>
                </a:solidFill>
                <a:highlight>
                  <a:srgbClr val="910030"/>
                </a:highlight>
              </a:rPr>
              <a:t>Model Life Cycle Management</a:t>
            </a:r>
            <a:endParaRPr b="1" sz="3000">
              <a:solidFill>
                <a:srgbClr val="F2F2F2"/>
              </a:solidFill>
              <a:highlight>
                <a:srgbClr val="910030"/>
              </a:highlight>
            </a:endParaRPr>
          </a:p>
        </p:txBody>
      </p:sp>
      <p:sp>
        <p:nvSpPr>
          <p:cNvPr id="208" name="Google Shape;208;p18"/>
          <p:cNvSpPr txBox="1"/>
          <p:nvPr/>
        </p:nvSpPr>
        <p:spPr>
          <a:xfrm>
            <a:off x="1292525" y="4249551"/>
            <a:ext cx="21231600" cy="10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b="1" lang="en-US" sz="3000"/>
              <a:t>Training Logs on Hugging Face</a:t>
            </a:r>
            <a:endParaRPr b="1" sz="30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b="1" lang="en-US" sz="3000"/>
              <a:t>Lora adapters tracked by version</a:t>
            </a:r>
            <a:endParaRPr b="1" sz="3000"/>
          </a:p>
        </p:txBody>
      </p:sp>
      <p:sp>
        <p:nvSpPr>
          <p:cNvPr id="209" name="Google Shape;209;p18"/>
          <p:cNvSpPr/>
          <p:nvPr/>
        </p:nvSpPr>
        <p:spPr>
          <a:xfrm>
            <a:off x="949000" y="6520464"/>
            <a:ext cx="21970500" cy="2109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6200">
            <a:solidFill>
              <a:srgbClr val="910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8"/>
          <p:cNvSpPr/>
          <p:nvPr/>
        </p:nvSpPr>
        <p:spPr>
          <a:xfrm>
            <a:off x="1829550" y="6319562"/>
            <a:ext cx="20069700" cy="537600"/>
          </a:xfrm>
          <a:prstGeom prst="roundRect">
            <a:avLst>
              <a:gd fmla="val 16667" name="adj"/>
            </a:avLst>
          </a:prstGeom>
          <a:solidFill>
            <a:srgbClr val="91003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2F2F2"/>
                </a:solidFill>
                <a:highlight>
                  <a:srgbClr val="910030"/>
                </a:highlight>
              </a:rPr>
              <a:t>Monitoring &amp; Observability</a:t>
            </a:r>
            <a:endParaRPr b="1" sz="3000">
              <a:solidFill>
                <a:srgbClr val="F2F2F2"/>
              </a:solidFill>
              <a:highlight>
                <a:srgbClr val="910030"/>
              </a:highlight>
            </a:endParaRPr>
          </a:p>
        </p:txBody>
      </p:sp>
      <p:sp>
        <p:nvSpPr>
          <p:cNvPr id="211" name="Google Shape;211;p18"/>
          <p:cNvSpPr txBox="1"/>
          <p:nvPr/>
        </p:nvSpPr>
        <p:spPr>
          <a:xfrm>
            <a:off x="1458192" y="7029397"/>
            <a:ext cx="21231600" cy="9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b="1" lang="en-US" sz="3000"/>
              <a:t>Prometheus → System Metrics</a:t>
            </a:r>
            <a:endParaRPr b="1" sz="30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b="1" lang="en-US" sz="3000"/>
              <a:t>Grafana → Dashboards</a:t>
            </a:r>
            <a:endParaRPr b="1" sz="3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/>
              <a:t>Tracks model latency, error rates,...</a:t>
            </a:r>
            <a:endParaRPr b="1" sz="3000"/>
          </a:p>
        </p:txBody>
      </p:sp>
      <p:sp>
        <p:nvSpPr>
          <p:cNvPr id="212" name="Google Shape;212;p18"/>
          <p:cNvSpPr/>
          <p:nvPr/>
        </p:nvSpPr>
        <p:spPr>
          <a:xfrm>
            <a:off x="823150" y="9205725"/>
            <a:ext cx="22222200" cy="3656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6200">
            <a:solidFill>
              <a:srgbClr val="910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8"/>
          <p:cNvSpPr txBox="1"/>
          <p:nvPr/>
        </p:nvSpPr>
        <p:spPr>
          <a:xfrm>
            <a:off x="823150" y="9975673"/>
            <a:ext cx="22222200" cy="21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b="1" lang="en-US" sz="3000"/>
              <a:t>CI/CD pipeline via GitHub Actions</a:t>
            </a:r>
            <a:endParaRPr b="1" sz="30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b="1" lang="en-US" sz="3000"/>
              <a:t>Automated:</a:t>
            </a:r>
            <a:endParaRPr b="1" sz="3000"/>
          </a:p>
          <a:p>
            <a:pPr indent="-419100" lvl="0" marL="9144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b="1" lang="en-US" sz="3000"/>
              <a:t>Testing</a:t>
            </a:r>
            <a:endParaRPr b="1" sz="3000"/>
          </a:p>
          <a:p>
            <a:pPr indent="-419100" lvl="0" marL="9144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b="1" lang="en-US" sz="3000"/>
              <a:t>Docker Builds</a:t>
            </a:r>
            <a:endParaRPr b="1" sz="3000"/>
          </a:p>
          <a:p>
            <a:pPr indent="-419100" lvl="0" marL="9144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b="1" lang="en-US" sz="3000"/>
              <a:t>Deployment</a:t>
            </a:r>
            <a:endParaRPr b="1" sz="3000"/>
          </a:p>
        </p:txBody>
      </p:sp>
      <p:sp>
        <p:nvSpPr>
          <p:cNvPr id="214" name="Google Shape;214;p18"/>
          <p:cNvSpPr/>
          <p:nvPr/>
        </p:nvSpPr>
        <p:spPr>
          <a:xfrm>
            <a:off x="1803675" y="8987250"/>
            <a:ext cx="20069700" cy="710700"/>
          </a:xfrm>
          <a:prstGeom prst="roundRect">
            <a:avLst>
              <a:gd fmla="val 16667" name="adj"/>
            </a:avLst>
          </a:prstGeom>
          <a:solidFill>
            <a:srgbClr val="91003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2F2F2"/>
                </a:solidFill>
                <a:highlight>
                  <a:srgbClr val="910030"/>
                </a:highlight>
              </a:rPr>
              <a:t>Continuous Deployment</a:t>
            </a:r>
            <a:endParaRPr b="1" sz="3000">
              <a:solidFill>
                <a:srgbClr val="F2F2F2"/>
              </a:solidFill>
              <a:highlight>
                <a:srgbClr val="910030"/>
              </a:highlight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9"/>
          <p:cNvSpPr txBox="1"/>
          <p:nvPr/>
        </p:nvSpPr>
        <p:spPr>
          <a:xfrm>
            <a:off x="5011714" y="2678803"/>
            <a:ext cx="14510700" cy="8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91633"/>
              </a:buClr>
              <a:buSzPts val="5400"/>
              <a:buFont typeface="Helvetica Neue"/>
              <a:buNone/>
            </a:pPr>
            <a:r>
              <a:rPr b="1" lang="en-US" sz="5400">
                <a:solidFill>
                  <a:srgbClr val="7916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Results &amp; Limitations</a:t>
            </a:r>
            <a:endParaRPr/>
          </a:p>
        </p:txBody>
      </p:sp>
      <p:sp>
        <p:nvSpPr>
          <p:cNvPr id="220" name="Google Shape;220;p19"/>
          <p:cNvSpPr txBox="1"/>
          <p:nvPr/>
        </p:nvSpPr>
        <p:spPr>
          <a:xfrm>
            <a:off x="15540112" y="761668"/>
            <a:ext cx="76311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roxima Nova"/>
              <a:buNone/>
            </a:pPr>
            <a:r>
              <a:rPr b="1" lang="en-US" sz="2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Veridict</a:t>
            </a:r>
            <a:endParaRPr b="1" sz="26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221" name="Google Shape;221;p19"/>
          <p:cNvCxnSpPr/>
          <p:nvPr/>
        </p:nvCxnSpPr>
        <p:spPr>
          <a:xfrm>
            <a:off x="11946550" y="4278000"/>
            <a:ext cx="24300" cy="7962600"/>
          </a:xfrm>
          <a:prstGeom prst="straightConnector1">
            <a:avLst/>
          </a:prstGeom>
          <a:noFill/>
          <a:ln cap="flat" cmpd="sng" w="114300">
            <a:solidFill>
              <a:srgbClr val="91003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2" name="Google Shape;222;p19"/>
          <p:cNvSpPr txBox="1"/>
          <p:nvPr/>
        </p:nvSpPr>
        <p:spPr>
          <a:xfrm>
            <a:off x="2794424" y="4800125"/>
            <a:ext cx="66030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91633"/>
              </a:buClr>
              <a:buSzPts val="5400"/>
              <a:buFont typeface="Helvetica Neue"/>
              <a:buNone/>
            </a:pPr>
            <a:r>
              <a:rPr b="1" lang="en-US" sz="3000">
                <a:solidFill>
                  <a:srgbClr val="7916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Results</a:t>
            </a:r>
            <a:endParaRPr b="1" sz="3000"/>
          </a:p>
        </p:txBody>
      </p:sp>
      <p:sp>
        <p:nvSpPr>
          <p:cNvPr id="223" name="Google Shape;223;p19"/>
          <p:cNvSpPr txBox="1"/>
          <p:nvPr/>
        </p:nvSpPr>
        <p:spPr>
          <a:xfrm>
            <a:off x="13742999" y="4800125"/>
            <a:ext cx="74769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91633"/>
              </a:buClr>
              <a:buSzPts val="5400"/>
              <a:buFont typeface="Helvetica Neue"/>
              <a:buNone/>
            </a:pPr>
            <a:r>
              <a:rPr b="1" lang="en-US" sz="3000">
                <a:solidFill>
                  <a:srgbClr val="7916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Limitations</a:t>
            </a:r>
            <a:endParaRPr b="1" sz="3000"/>
          </a:p>
        </p:txBody>
      </p:sp>
      <p:sp>
        <p:nvSpPr>
          <p:cNvPr id="224" name="Google Shape;224;p19"/>
          <p:cNvSpPr/>
          <p:nvPr/>
        </p:nvSpPr>
        <p:spPr>
          <a:xfrm>
            <a:off x="12941850" y="6803850"/>
            <a:ext cx="9079200" cy="850800"/>
          </a:xfrm>
          <a:prstGeom prst="roundRect">
            <a:avLst>
              <a:gd fmla="val 16667" name="adj"/>
            </a:avLst>
          </a:prstGeom>
          <a:solidFill>
            <a:srgbClr val="91003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</a:rPr>
              <a:t>Bias in DeepSeek’s Labels (Tendency to sort High)</a:t>
            </a:r>
            <a:endParaRPr b="1" sz="2400">
              <a:solidFill>
                <a:schemeClr val="lt1"/>
              </a:solidFill>
            </a:endParaRPr>
          </a:p>
        </p:txBody>
      </p:sp>
      <p:sp>
        <p:nvSpPr>
          <p:cNvPr id="225" name="Google Shape;225;p19"/>
          <p:cNvSpPr/>
          <p:nvPr/>
        </p:nvSpPr>
        <p:spPr>
          <a:xfrm>
            <a:off x="12941850" y="8981350"/>
            <a:ext cx="9079200" cy="850800"/>
          </a:xfrm>
          <a:prstGeom prst="roundRect">
            <a:avLst>
              <a:gd fmla="val 16667" name="adj"/>
            </a:avLst>
          </a:prstGeom>
          <a:solidFill>
            <a:srgbClr val="91003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</a:rPr>
              <a:t>Testing and consistency. </a:t>
            </a:r>
            <a:endParaRPr b="1" sz="2400">
              <a:solidFill>
                <a:schemeClr val="lt1"/>
              </a:solidFill>
            </a:endParaRPr>
          </a:p>
        </p:txBody>
      </p:sp>
      <p:sp>
        <p:nvSpPr>
          <p:cNvPr id="226" name="Google Shape;226;p19"/>
          <p:cNvSpPr/>
          <p:nvPr/>
        </p:nvSpPr>
        <p:spPr>
          <a:xfrm>
            <a:off x="1556325" y="5953050"/>
            <a:ext cx="9079200" cy="850800"/>
          </a:xfrm>
          <a:prstGeom prst="roundRect">
            <a:avLst>
              <a:gd fmla="val 16667" name="adj"/>
            </a:avLst>
          </a:prstGeom>
          <a:solidFill>
            <a:srgbClr val="91003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</a:rPr>
              <a:t>train_loss 0.9633, eval_loss 0.6779</a:t>
            </a:r>
            <a:endParaRPr b="1" sz="2400">
              <a:solidFill>
                <a:schemeClr val="lt1"/>
              </a:solidFill>
            </a:endParaRPr>
          </a:p>
        </p:txBody>
      </p:sp>
      <p:sp>
        <p:nvSpPr>
          <p:cNvPr id="227" name="Google Shape;227;p19"/>
          <p:cNvSpPr/>
          <p:nvPr/>
        </p:nvSpPr>
        <p:spPr>
          <a:xfrm>
            <a:off x="1556325" y="8130550"/>
            <a:ext cx="9079200" cy="850800"/>
          </a:xfrm>
          <a:prstGeom prst="roundRect">
            <a:avLst>
              <a:gd fmla="val 16667" name="adj"/>
            </a:avLst>
          </a:prstGeom>
          <a:solidFill>
            <a:srgbClr val="91003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</a:rPr>
              <a:t>LLM As A Judge: </a:t>
            </a:r>
            <a:endParaRPr b="1" sz="2400">
              <a:solidFill>
                <a:schemeClr val="lt1"/>
              </a:solidFill>
            </a:endParaRPr>
          </a:p>
        </p:txBody>
      </p:sp>
      <p:sp>
        <p:nvSpPr>
          <p:cNvPr id="228" name="Google Shape;228;p19"/>
          <p:cNvSpPr/>
          <p:nvPr/>
        </p:nvSpPr>
        <p:spPr>
          <a:xfrm>
            <a:off x="1556325" y="10308050"/>
            <a:ext cx="9079200" cy="850800"/>
          </a:xfrm>
          <a:prstGeom prst="roundRect">
            <a:avLst>
              <a:gd fmla="val 16667" name="adj"/>
            </a:avLst>
          </a:prstGeom>
          <a:solidFill>
            <a:srgbClr val="91003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</a:rPr>
              <a:t>Lawyer Review: </a:t>
            </a:r>
            <a:endParaRPr b="1" sz="2400">
              <a:solidFill>
                <a:schemeClr val="lt1"/>
              </a:solidFill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0"/>
          <p:cNvSpPr txBox="1"/>
          <p:nvPr/>
        </p:nvSpPr>
        <p:spPr>
          <a:xfrm>
            <a:off x="8125327" y="6128698"/>
            <a:ext cx="8133300" cy="12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DEMO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30_BasicColor">
  <a:themeElements>
    <a:clrScheme name="30_BasicColor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